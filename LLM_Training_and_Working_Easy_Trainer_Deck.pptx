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How Large Language Models</a:t>
            </a:r>
            <a:br/>
            <a:r>
              <a:t>Learn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1F5"/>
                </a:solidFill>
              </a:defRPr>
            </a:pPr>
            <a:r>
              <a:t>A trainer-friendly journey using tiny data, simple mathematics, and one prediction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886200"/>
            <a:ext cx="2926080" cy="5943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3886200"/>
            <a:ext cx="2926080" cy="594360"/>
          </a:xfrm>
          <a:prstGeom prst="roundRect">
            <a:avLst/>
          </a:prstGeom>
          <a:solidFill>
            <a:srgbClr val="7C4CBE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3886200"/>
            <a:ext cx="2926080" cy="594360"/>
          </a:xfrm>
          <a:prstGeom prst="roundRect">
            <a:avLst/>
          </a:prstGeom>
          <a:solidFill>
            <a:srgbClr val="2096A0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Example throughout: “The king wears a crown”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What will we understand?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t>The whole lifecycle—not just the Transformer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What an LLM is actually learning: probabilities represented by billions of numerical parameters.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How text becomes tokens and then vectors (embeddings).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What Q, K and V do inside self-attention.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How the model predicts the next token and calculates loss.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What gradient, learning rate and backpropagation mean in plain mathematics.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How training differs from inference and token-by-token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First idea: an LLM is a next-token predictor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9202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62B33"/>
                </a:solidFill>
              </a:defRPr>
            </a:pPr>
            <a:r>
              <a:t>The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508760"/>
            <a:ext cx="19202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62B33"/>
                </a:solidFill>
              </a:defRPr>
            </a:pPr>
            <a:r>
              <a:t>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508760"/>
            <a:ext cx="19202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62B33"/>
                </a:solidFill>
              </a:defRPr>
            </a:pPr>
            <a:r>
              <a:t>wears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508760"/>
            <a:ext cx="19202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62B33"/>
                </a:solidFill>
              </a:defRPr>
            </a:pPr>
            <a: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508760"/>
            <a:ext cx="1920240" cy="731520"/>
          </a:xfrm>
          <a:prstGeom prst="roundRect">
            <a:avLst/>
          </a:prstGeom>
          <a:solidFill>
            <a:srgbClr val="FFEFAA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62B33"/>
                </a:solidFill>
              </a:defRPr>
            </a:pPr>
            <a:r>
              <a:t>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98280" y="1874519"/>
            <a:ext cx="210312" cy="0"/>
          </a:xfrm>
          <a:prstGeom prst="line">
            <a:avLst/>
          </a:prstGeom>
          <a:ln w="38100">
            <a:solidFill>
              <a:srgbClr val="EB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926080"/>
            <a:ext cx="6400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Model output: crown  0.72   hat  0.11   robe  0.06  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Core idea: given previous tokens, estimate a probability distribution for the next token.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Training data becomes many prediction exercises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5486400" cy="6858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0">
                <a:solidFill>
                  <a:srgbClr val="262B33"/>
                </a:solidFill>
              </a:defRPr>
            </a:pPr>
            <a:r>
              <a:t>The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37960" y="1755648"/>
            <a:ext cx="777240" cy="0"/>
          </a:xfrm>
          <a:prstGeom prst="line">
            <a:avLst/>
          </a:prstGeom>
          <a:ln w="317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52360" y="1417320"/>
            <a:ext cx="2926080" cy="685800"/>
          </a:xfrm>
          <a:prstGeom prst="roundRect">
            <a:avLst/>
          </a:prstGeom>
          <a:solidFill>
            <a:srgbClr val="E8F4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5486400" cy="6858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0">
                <a:solidFill>
                  <a:srgbClr val="262B33"/>
                </a:solidFill>
              </a:defRPr>
            </a:pPr>
            <a:r>
              <a:t>The 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37960" y="2715768"/>
            <a:ext cx="777240" cy="0"/>
          </a:xfrm>
          <a:prstGeom prst="line">
            <a:avLst/>
          </a:prstGeom>
          <a:ln w="317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52360" y="2377440"/>
            <a:ext cx="2926080" cy="685800"/>
          </a:xfrm>
          <a:prstGeom prst="roundRect">
            <a:avLst/>
          </a:prstGeom>
          <a:solidFill>
            <a:srgbClr val="E8F4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wears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37560"/>
            <a:ext cx="5486400" cy="6858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0">
                <a:solidFill>
                  <a:srgbClr val="262B33"/>
                </a:solidFill>
              </a:defRPr>
            </a:pPr>
            <a:r>
              <a:t>The king wears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3675888"/>
            <a:ext cx="777240" cy="0"/>
          </a:xfrm>
          <a:prstGeom prst="line">
            <a:avLst/>
          </a:prstGeom>
          <a:ln w="317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3337560"/>
            <a:ext cx="2926080" cy="685800"/>
          </a:xfrm>
          <a:prstGeom prst="roundRect">
            <a:avLst/>
          </a:prstGeom>
          <a:solidFill>
            <a:srgbClr val="E8F4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5486400" cy="6858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0">
                <a:solidFill>
                  <a:srgbClr val="262B33"/>
                </a:solidFill>
              </a:defRPr>
            </a:pPr>
            <a:r>
              <a:t>The king wears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37960" y="4636008"/>
            <a:ext cx="777240" cy="0"/>
          </a:xfrm>
          <a:prstGeom prst="line">
            <a:avLst/>
          </a:prstGeom>
          <a:ln w="317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60" y="4297680"/>
            <a:ext cx="2926080" cy="685800"/>
          </a:xfrm>
          <a:prstGeom prst="roundRect">
            <a:avLst/>
          </a:prstGeom>
          <a:solidFill>
            <a:srgbClr val="E8F4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037"/>
                </a:solidFill>
              </a:defRPr>
            </a:pPr>
            <a:r>
              <a:t>crown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No need to deliberately remove random words for ordinary autoregressive pretraining: shifting the sequence automatically creates targets.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Step 1 — Tokenization: text → token IDs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62B33"/>
                </a:solidFill>
              </a:defRPr>
            </a:pPr>
            <a:r>
              <a:t>“The king wears a crown”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2103120"/>
            <a:ext cx="0" cy="50292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278892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The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66160"/>
            <a:ext cx="182880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42037"/>
                </a:solidFill>
              </a:defRPr>
            </a:pPr>
            <a:r>
              <a:t>ID 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78892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566160"/>
            <a:ext cx="182880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42037"/>
                </a:solidFill>
              </a:defRPr>
            </a:pPr>
            <a:r>
              <a:t>ID 2451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78892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566160"/>
            <a:ext cx="182880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42037"/>
                </a:solidFill>
              </a:defRPr>
            </a:pPr>
            <a:r>
              <a:t>ID 7812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78892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566160"/>
            <a:ext cx="182880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42037"/>
                </a:solidFill>
              </a:defRPr>
            </a:pPr>
            <a:r>
              <a:t>ID 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278892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crown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566160"/>
            <a:ext cx="1828800" cy="502920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42037"/>
                </a:solidFill>
              </a:defRPr>
            </a:pPr>
            <a:r>
              <a:t>ID 9210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Token IDs are labels, not meanings. ID 2451 is not mathematically 'king-like'; it only identifies a vocabulary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Step 2 — Embeddings: token ID → vector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182880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king</a:t>
            </a:r>
            <a:br/>
            <a:r>
              <a:t>ID 2451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1737360"/>
            <a:ext cx="100584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94760" y="1280160"/>
            <a:ext cx="4937760" cy="914400"/>
          </a:xfrm>
          <a:prstGeom prst="roundRect">
            <a:avLst/>
          </a:prstGeom>
          <a:solidFill>
            <a:srgbClr val="ECF7FA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62B33"/>
                </a:solidFill>
              </a:defRPr>
            </a:pPr>
            <a:r>
              <a:t>[ 0.21,  -0.73,  0.15,  0.82,  ...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B33"/>
                </a:solidFill>
              </a:defRPr>
            </a:pPr>
            <a:r>
              <a:t>• At initialization these values are essentially learned starting numbers—not human-assigned meanings.</a:t>
            </a:r>
          </a:p>
          <a:p>
            <a:pPr>
              <a:spcAft>
                <a:spcPts val="1200"/>
              </a:spcAft>
              <a:defRPr sz="1700">
                <a:solidFill>
                  <a:srgbClr val="262B33"/>
                </a:solidFill>
              </a:defRPr>
            </a:pPr>
            <a:r>
              <a:t>• During training, gradients repeatedly change them.</a:t>
            </a:r>
          </a:p>
          <a:p>
            <a:pPr>
              <a:spcAft>
                <a:spcPts val="1200"/>
              </a:spcAft>
              <a:defRPr sz="1700">
                <a:solidFill>
                  <a:srgbClr val="262B33"/>
                </a:solidFill>
              </a:defRPr>
            </a:pPr>
            <a:r>
              <a:t>• Words/tokens used in similar contexts tend to acquire useful geometric relationships.</a:t>
            </a:r>
          </a:p>
          <a:p>
            <a:pPr>
              <a:spcAft>
                <a:spcPts val="1200"/>
              </a:spcAft>
              <a:defRPr sz="1700">
                <a:solidFill>
                  <a:srgbClr val="262B33"/>
                </a:solidFill>
              </a:defRPr>
            </a:pPr>
            <a:r>
              <a:t>• A real model may use thousands of dimensions; we use 3 dimensions next so we can calculate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Tiny 3-dimensional embedding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417320"/>
            <a:ext cx="210312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The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41732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62B33"/>
                </a:solidFill>
              </a:defRPr>
            </a:pPr>
            <a:r>
              <a:t>[0.2, 0.1, 0.4]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210312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28600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62B33"/>
                </a:solidFill>
              </a:defRPr>
            </a:pPr>
            <a:r>
              <a:t>[0.8, 0.3, 0.6]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154680"/>
            <a:ext cx="210312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15468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62B33"/>
                </a:solidFill>
              </a:defRPr>
            </a:pPr>
            <a:r>
              <a:t>[0.4, 0.7, 0.2]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023360"/>
            <a:ext cx="210312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402336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62B33"/>
                </a:solidFill>
              </a:defRPr>
            </a:pPr>
            <a:r>
              <a:t>[0.1, 0.2, 0.1]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Each coordinate is learned. Do not interpret dimension 1 as 'royalty' or dimension 2 as 'gender'; individual dimensions usually have no simple label.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Position matters: “king wears” ≠ “wears king”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4389120" cy="731520"/>
          </a:xfrm>
          <a:prstGeom prst="roundRect">
            <a:avLst/>
          </a:prstGeom>
          <a:solidFill>
            <a:srgbClr val="ECF7FA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Token 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08760"/>
            <a:ext cx="4389120" cy="731520"/>
          </a:xfrm>
          <a:prstGeom prst="roundRect">
            <a:avLst/>
          </a:prstGeom>
          <a:solidFill>
            <a:srgbClr val="F3EDFC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Position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4389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62B33"/>
                </a:solidFill>
              </a:defRPr>
            </a:pPr>
            <a:r>
              <a:t>king → [0.8, 0.3, 0.6]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743200"/>
            <a:ext cx="4389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62B33"/>
                </a:solidFill>
              </a:defRPr>
            </a:pPr>
            <a:r>
              <a:t>position 2 → [0.1, 0.0, 0.2]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4069080"/>
            <a:ext cx="6217920" cy="868680"/>
          </a:xfrm>
          <a:prstGeom prst="roundRect">
            <a:avLst/>
          </a:prstGeom>
          <a:solidFill>
            <a:srgbClr val="F5F7FB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input representation ≈ [0.9, 0.3, 0.8]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3566160"/>
            <a:ext cx="1463040" cy="484631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680960" y="3566160"/>
            <a:ext cx="914400" cy="484631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The Transformer block: the repeated processing unit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Input vectors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88920" y="1828800"/>
            <a:ext cx="86868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49039" y="1280160"/>
            <a:ext cx="2194560" cy="1097280"/>
          </a:xfrm>
          <a:prstGeom prst="roundRect">
            <a:avLst/>
          </a:prstGeom>
          <a:solidFill>
            <a:srgbClr val="F3EDFC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Self-</a:t>
            </a:r>
            <a:br/>
            <a:r>
              <a:t>Attention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89320" y="1828800"/>
            <a:ext cx="77724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0" y="1280160"/>
            <a:ext cx="2194560" cy="1097280"/>
          </a:xfrm>
          <a:prstGeom prst="roundRect">
            <a:avLst/>
          </a:prstGeom>
          <a:solidFill>
            <a:srgbClr val="ECF7FA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Feed-</a:t>
            </a:r>
            <a:br/>
            <a:r>
              <a:t>Forward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98280" y="1828800"/>
            <a:ext cx="77724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966960" y="1463040"/>
            <a:ext cx="14630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Attention mixes information across token positions.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The feed-forward network transforms each position using learned weights.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Residual connections and normalization stabilize information flow.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Modern LLMs stack many such blocks.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Why Q, K and V? Think: search, label, 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2743200" cy="8229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 —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27432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What am I</a:t>
            </a:r>
            <a:br/>
            <a:r>
              <a:t>looking for?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508760"/>
            <a:ext cx="2743200" cy="822960"/>
          </a:xfrm>
          <a:prstGeom prst="roundRect">
            <a:avLst/>
          </a:prstGeom>
          <a:solidFill>
            <a:srgbClr val="7C4CBE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 —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560320"/>
            <a:ext cx="27432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What do I</a:t>
            </a:r>
            <a:br/>
            <a:r>
              <a:t>represent?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08760"/>
            <a:ext cx="2743200" cy="822960"/>
          </a:xfrm>
          <a:prstGeom prst="roundRect">
            <a:avLst/>
          </a:prstGeom>
          <a:solidFill>
            <a:srgbClr val="2096A0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 —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560320"/>
            <a:ext cx="27432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What information</a:t>
            </a:r>
            <a:br/>
            <a:r>
              <a:t>do I carry?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251960"/>
            <a:ext cx="8321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Attention score ≈ similarity(Query of current token, Key of another token)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Q, K and V are not stored dictionaries. They are vectors calculated from token representations using learned matrices WQ, WK and WV.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How Q, K and V are calculated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194560" cy="77724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x = token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128016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Q = x × WQ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926080" y="1664207"/>
            <a:ext cx="868680" cy="91441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86200" y="251460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K = x × WK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755648"/>
            <a:ext cx="868680" cy="1143000"/>
          </a:xfrm>
          <a:prstGeom prst="line">
            <a:avLst/>
          </a:prstGeom>
          <a:ln w="25400">
            <a:solidFill>
              <a:srgbClr val="7C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86200" y="3749039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V = x × WV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755648"/>
            <a:ext cx="868680" cy="2377439"/>
          </a:xfrm>
          <a:prstGeom prst="line">
            <a:avLst/>
          </a:prstGeom>
          <a:ln w="25400">
            <a:solidFill>
              <a:srgbClr val="2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863840" y="2331720"/>
            <a:ext cx="3017520" cy="1188720"/>
          </a:xfrm>
          <a:prstGeom prst="roundRect">
            <a:avLst/>
          </a:prstGeom>
          <a:solidFill>
            <a:srgbClr val="FFEFAA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WQ, WK, WV</a:t>
            </a:r>
            <a:br/>
            <a:r>
              <a:t>are trainable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The same input vector can produce three different views because it is multiplied by three different learned matrices.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Self-attention with a tiny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t>Suppose the current token is “wears” and it needs useful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2860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The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attention = 0.05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463040"/>
            <a:ext cx="22860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2402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attention = 0.72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63040"/>
            <a:ext cx="22860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wears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2402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attention = 0.18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63040"/>
            <a:ext cx="22860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2402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attention = 0.05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703320"/>
            <a:ext cx="5166360" cy="868680"/>
          </a:xfrm>
          <a:prstGeom prst="roundRect">
            <a:avLst/>
          </a:prstGeom>
          <a:solidFill>
            <a:srgbClr val="F3EDFC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“king” contributes the most Value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The displayed numbers are illustrative. Real attention scores are computed from Q·K, scaled, masked, then normalized with softmax.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Attention mathematics—only four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94360" cy="5943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1325880"/>
            <a:ext cx="20574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Dot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32588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Q · 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4754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measure similarity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94360" cy="5943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2286000"/>
            <a:ext cx="20574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28600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÷ √dₖ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4754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keep values numerically 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94360" cy="5943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246120"/>
            <a:ext cx="20574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24612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future → −∞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46120"/>
            <a:ext cx="4754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prevent looking ahead during causal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94360" cy="5943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4206240"/>
            <a:ext cx="2057400" cy="5943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Softmax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20624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scores → probabilities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06240"/>
            <a:ext cx="4754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weights that sum to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Softmax: raw scores → probabilities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389120" cy="6858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raw logits: [ 1.0, 3.0, 0.5 ]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0" y="1755648"/>
            <a:ext cx="109728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0" y="1417320"/>
            <a:ext cx="4389120" cy="685800"/>
          </a:xfrm>
          <a:prstGeom prst="roundRect">
            <a:avLst/>
          </a:prstGeom>
          <a:solidFill>
            <a:srgbClr val="ECF7FA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softmax ≈ [ .11, .82, .07 ]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Softmax makes all values positive.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The probabilities add up to 1.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A larger logit receives a larger probability—but not linearly.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The same idea is used both inside attention and at the final vocabulary prediction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After many Transformer layers: predict the next token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74320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Context representation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0" y="1691640"/>
            <a:ext cx="77724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89120" y="132588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Linear output layer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223760" y="1691640"/>
            <a:ext cx="777240" cy="0"/>
          </a:xfrm>
          <a:prstGeom prst="line">
            <a:avLst/>
          </a:prstGeom>
          <a:ln w="381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138160" y="1325880"/>
            <a:ext cx="3017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Vocabulary logits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971800"/>
            <a:ext cx="8412480" cy="100584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crown: 2.8   |   hat: 1.1   |   robe: 0.6   |   horse: −0.2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4343400"/>
            <a:ext cx="6583680" cy="822960"/>
          </a:xfrm>
          <a:prstGeom prst="roundRect">
            <a:avLst/>
          </a:prstGeom>
          <a:solidFill>
            <a:srgbClr val="ECF7FA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Softmax → crown: 0.72, hat: 0.13, robe: 0.08,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Loss: how wrong was the prediction?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2743200" cy="6858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Correct token = crown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1417320"/>
            <a:ext cx="3291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Model P(crown) = 0.20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417320"/>
            <a:ext cx="3657600" cy="685800"/>
          </a:xfrm>
          <a:prstGeom prst="roundRect">
            <a:avLst/>
          </a:prstGeom>
          <a:solidFill>
            <a:srgbClr val="FFEFE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Loss = −ln(0.20) ≈ 1.61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80360"/>
            <a:ext cx="4572000" cy="777240"/>
          </a:xfrm>
          <a:prstGeom prst="roundRect">
            <a:avLst/>
          </a:prstGeom>
          <a:solidFill>
            <a:srgbClr val="EBF9E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If P(correct) = 0.90</a:t>
            </a:r>
            <a:br/>
            <a:r>
              <a:t>loss ≈ 0.105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80360"/>
            <a:ext cx="4572000" cy="777240"/>
          </a:xfrm>
          <a:prstGeom prst="roundRect">
            <a:avLst/>
          </a:prstGeom>
          <a:solidFill>
            <a:srgbClr val="FFEFE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If P(correct) = 0.01</a:t>
            </a:r>
            <a:br/>
            <a:r>
              <a:t>loss ≈ 4.605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Cross-entropy rewards high probability on the correct next token and strongly penalizes confident wrong predictions.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Gradient: the slope that tells us how to change a weight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65760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Imagine ONE weight: 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365760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Loss depends on 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325880"/>
            <a:ext cx="6035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62B33"/>
                </a:solidFill>
              </a:defRPr>
            </a:pPr>
            <a:r>
              <a:t>gradient = d(Loss) / d(weight)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514600"/>
            <a:ext cx="6035040" cy="914400"/>
          </a:xfrm>
          <a:prstGeom prst="roundRect">
            <a:avLst/>
          </a:prstGeom>
          <a:solidFill>
            <a:srgbClr val="FFEFE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gradient = +0.40  → increasing w raises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3703320"/>
            <a:ext cx="6035040" cy="914400"/>
          </a:xfrm>
          <a:prstGeom prst="roundRect">
            <a:avLst/>
          </a:prstGeom>
          <a:solidFill>
            <a:srgbClr val="EBF9E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gradient = −0.40  → increasing w lowers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Gradient answers: “If I change this parameter a tiny amount, which way—and how strongly—does the loss change?”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Learning rate: how big a correction should we make?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023360" cy="77724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62B33"/>
                </a:solidFill>
              </a:defRPr>
            </a:pPr>
            <a:r>
              <a:t>old weight = 0.50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4023360" cy="77724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62B33"/>
                </a:solidFill>
              </a:defRPr>
            </a:pPr>
            <a:r>
              <a:t>gradient = +0.40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4023360" cy="77724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62B33"/>
                </a:solidFill>
              </a:defRPr>
            </a:pPr>
            <a:r>
              <a:t>learning rate = 0.10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55448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new = old − learning_rate × gradient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78892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= 0.50 − (0.10 × 0.40)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4023360"/>
            <a:ext cx="5120640" cy="914400"/>
          </a:xfrm>
          <a:prstGeom prst="roundRect">
            <a:avLst/>
          </a:prstGeom>
          <a:solidFill>
            <a:srgbClr val="EBF9E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2B33"/>
                </a:solidFill>
              </a:defRPr>
            </a:pPr>
            <a:r>
              <a:t>= 0.46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Backpropagation: who gets blamed for the error?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Prediction</a:t>
            </a:r>
            <a:br/>
            <a:r>
              <a:t>loss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39" y="2286000"/>
            <a:ext cx="338329" cy="0"/>
          </a:xfrm>
          <a:prstGeom prst="line">
            <a:avLst/>
          </a:prstGeom>
          <a:ln w="31750">
            <a:solidFill>
              <a:srgbClr val="D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88920" y="18288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Output</a:t>
            </a:r>
            <a:br/>
            <a:r>
              <a:t>weights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2286000"/>
            <a:ext cx="338328" cy="0"/>
          </a:xfrm>
          <a:prstGeom prst="line">
            <a:avLst/>
          </a:prstGeom>
          <a:ln w="31750">
            <a:solidFill>
              <a:srgbClr val="D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74920" y="18288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Transformer</a:t>
            </a:r>
            <a:br/>
            <a:r>
              <a:t>layers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0" y="2286000"/>
            <a:ext cx="338328" cy="0"/>
          </a:xfrm>
          <a:prstGeom prst="line">
            <a:avLst/>
          </a:prstGeom>
          <a:ln w="31750">
            <a:solidFill>
              <a:srgbClr val="D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18288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Attention</a:t>
            </a:r>
            <a:br/>
            <a:r>
              <a:t>WQ/WK/WV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0" y="2286000"/>
            <a:ext cx="338328" cy="0"/>
          </a:xfrm>
          <a:prstGeom prst="line">
            <a:avLst/>
          </a:prstGeom>
          <a:ln w="31750">
            <a:solidFill>
              <a:srgbClr val="D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46920" y="18288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B33"/>
                </a:solidFill>
              </a:defRPr>
            </a:pPr>
            <a:r>
              <a:t>Embeddings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794760"/>
            <a:ext cx="8229600" cy="91440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Chain rule propagates derivatives backward through every differentiable operation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Backpropagation does not 'understand' language. It efficiently computes gradients for parameters that contributed to the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One complete training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1. Read token batch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86200" y="1874519"/>
            <a:ext cx="4572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480560" y="141732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2. Forward pass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0" y="1874519"/>
            <a:ext cx="4572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75320" y="141732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3. Predict next tokens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38360" y="2395728"/>
            <a:ext cx="0" cy="82296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338328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4. Compute loss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3840480"/>
            <a:ext cx="4572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0560" y="338328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5. Backprop gradients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3840480"/>
            <a:ext cx="4572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338328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6. Optimizer updates weights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Repeat this over enormous numbers of token examples. Training is repeated numerical adjustment, not storing paragraphs as database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What exactly are the “weights”?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Embedding table values.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Q/K/V projection matrices and attention output matrices.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Feed-forward network matrices and biases.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Normalization parameters.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Final output projection parameters.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Collectively, these parameters encode statistical patterns learned from training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4160520"/>
            <a:ext cx="2926080" cy="960120"/>
          </a:xfrm>
          <a:prstGeom prst="roundRect">
            <a:avLst/>
          </a:prstGeom>
          <a:solidFill>
            <a:srgbClr val="FFEFAA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Parameter =</a:t>
            </a:r>
            <a:br/>
            <a:r>
              <a:t>a trainable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Epoch, batch and optimizer—three useful training terms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743200" cy="73152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743200" cy="16459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A small group of token sequences processed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2743200" cy="731520"/>
          </a:xfrm>
          <a:prstGeom prst="roundRect">
            <a:avLst/>
          </a:prstGeom>
          <a:solidFill>
            <a:srgbClr val="7C4CBE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Epoch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423160"/>
            <a:ext cx="2743200" cy="16459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One pass over a defined training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2743200" cy="731520"/>
          </a:xfrm>
          <a:prstGeom prst="roundRect">
            <a:avLst/>
          </a:prstGeom>
          <a:solidFill>
            <a:srgbClr val="2096A0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Optimizer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23160"/>
            <a:ext cx="2743200" cy="16459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Algorithm that uses gradients to update parameters (e.g., Adam/AdamW).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For very large web-scale training, people often discuss total training tokens/steps rather than thinking only in traditional 'epochs'.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Training vs.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2286000" cy="594360"/>
          </a:xfrm>
          <a:prstGeom prst="round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971800" y="1234440"/>
            <a:ext cx="3931920" cy="594360"/>
          </a:xfrm>
          <a:prstGeom prst="round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234440"/>
            <a:ext cx="4389120" cy="594360"/>
          </a:xfrm>
          <a:prstGeom prst="round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286000" cy="566928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3931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Learn 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Generate/use learned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68880"/>
            <a:ext cx="2286000" cy="566928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468880"/>
            <a:ext cx="3931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Known next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46888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Usually unknown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108960"/>
            <a:ext cx="2286000" cy="566928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108960"/>
            <a:ext cx="3931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Calculated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10896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Normally not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40"/>
            <a:ext cx="2286000" cy="566928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Backprop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3749040"/>
            <a:ext cx="3931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74904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89120"/>
            <a:ext cx="2286000" cy="566928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Weight update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4389120"/>
            <a:ext cx="3931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438912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029200"/>
            <a:ext cx="2286000" cy="566928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5029200"/>
            <a:ext cx="3931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Better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02920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Next-token probabilities / generated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Inference: how your prompt becomes an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Prompt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68880" y="1837943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34640" y="150876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Tokenize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00600" y="1837943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66360" y="1508760"/>
            <a:ext cx="2468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Embedding + positions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80960" y="1837943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46720" y="150876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Transformer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2468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Next-token probabilities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7560" y="3438144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310896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Choose token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3438144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35040" y="310896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Append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3438144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3108960"/>
            <a:ext cx="19202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Repeat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4709160"/>
            <a:ext cx="6126480" cy="82296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B33"/>
                </a:solidFill>
              </a:defRPr>
            </a:pPr>
            <a:r>
              <a:t>Generation ends at a stop token, length limit, or other stopping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Temperature and sampling: why answers can differ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3200400" cy="731520"/>
          </a:xfrm>
          <a:prstGeom prst="roundRect">
            <a:avLst/>
          </a:prstGeom>
          <a:solidFill>
            <a:srgbClr val="EBF9E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Low temperature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200400" cy="731520"/>
          </a:xfrm>
          <a:prstGeom prst="roundRect">
            <a:avLst/>
          </a:prstGeom>
          <a:solidFill>
            <a:srgbClr val="FFF5E6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Higher temperature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371600"/>
            <a:ext cx="3200400" cy="7315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62B33"/>
                </a:solidFill>
              </a:defRPr>
            </a:pPr>
            <a:r>
              <a:t>Greedy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Probability distribution becomes sharper → more predictable choices.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37744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Distribution becomes flatter → more variation.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37744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Always choose highest-probability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Temperature changes token-selection probabilities; it does not retrain the model or change its stored weights.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What happens before pretraining? Initialization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8346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Vocabulary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28346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Architecture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417320"/>
            <a:ext cx="2834640" cy="731520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62B33"/>
                </a:solidFill>
              </a:defRPr>
            </a:pPr>
            <a:r>
              <a:t>Weights initialized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Tokenizer knows how to split text and map tokens ↔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5146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Number of layers, dimensions, heads, etc. are chosen.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5146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62B33"/>
                </a:solidFill>
              </a:defRPr>
            </a:pPr>
            <a:r>
              <a:t>Parameters start with small numerical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EFAA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Before training, the network has structure but essentially no useful language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Does it check every prediction against the actual token?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Yes—in autoregressive training, each eligible position in a training sequence supplies a target next token.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A batch can therefore produce many next-token losses in parallel.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Those losses are aggregated (commonly averaged) into a training objective.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Backpropagation computes how that objective depends on a very large set of parameters.</a:t>
            </a:r>
          </a:p>
          <a:p>
            <a:pPr>
              <a:spcAft>
                <a:spcPts val="1200"/>
              </a:spcAft>
              <a:defRPr sz="1800">
                <a:solidFill>
                  <a:srgbClr val="262B33"/>
                </a:solidFill>
              </a:defRPr>
            </a:pPr>
            <a:r>
              <a:t>• An optimizer then updates those parameters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So the model is not updating one isolated 'word weight'. The same parameters participate across huge numbers of contexts.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Tiny end-to-end worked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143000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The king wears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Correct next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755648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crown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68296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Model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368296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crown .20 | hat .50 | robe .30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80944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980944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−ln(.20) ≈ 1.61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93591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Example gradient for one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93591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+0.40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Learning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4206240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0.10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18888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Weight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818888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0.50 − 0.10×0.40 = 0.46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31536"/>
            <a:ext cx="2743200" cy="530352"/>
          </a:xfrm>
          <a:prstGeom prst="roundRect">
            <a:avLst/>
          </a:prstGeom>
          <a:solidFill>
            <a:srgbClr val="F5F7FB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B33"/>
                </a:solidFill>
              </a:defRPr>
            </a:pPr>
            <a:r>
              <a:t>Next encounter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5431536"/>
            <a:ext cx="8001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62B33"/>
                </a:solidFill>
              </a:defRPr>
            </a:pPr>
            <a:r>
              <a:t>Model may assign a slightly better probability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The whole LLM lifecycle on one slide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DATA</a:t>
            </a:r>
            <a:br/>
            <a:r>
              <a:t>Text/code/etc.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64792" y="2331720"/>
            <a:ext cx="24688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TOKENS</a:t>
            </a:r>
            <a:br/>
            <a:r>
              <a:t>IDs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56432" y="2331720"/>
            <a:ext cx="24688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0332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C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VECTORS</a:t>
            </a:r>
            <a:br/>
            <a:r>
              <a:t>Embeddings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8072" y="2331720"/>
            <a:ext cx="24688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9496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B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TRANSFORMER</a:t>
            </a:r>
            <a:br/>
            <a:r>
              <a:t>Attention + FFN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39712" y="2331720"/>
            <a:ext cx="24688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8660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6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PREDICTION</a:t>
            </a:r>
            <a:br/>
            <a:r>
              <a:t>Probabilities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31352" y="2331720"/>
            <a:ext cx="24688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7824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LOSS</a:t>
            </a:r>
            <a:br/>
            <a:r>
              <a:t>Error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22992" y="2331720"/>
            <a:ext cx="24688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469880" y="182880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2B33"/>
                </a:solidFill>
              </a:defRPr>
            </a:pPr>
            <a:r>
              <a:t>UPDATE</a:t>
            </a:r>
            <a:br/>
            <a:r>
              <a:t>Gradients + optimizer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886200"/>
            <a:ext cx="8503920" cy="777240"/>
          </a:xfrm>
          <a:prstGeom prst="roundRect">
            <a:avLst/>
          </a:prstGeom>
          <a:solidFill>
            <a:srgbClr val="F5F7FB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TRAINING: repeat the loop many times → useful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892040"/>
            <a:ext cx="8503920" cy="777240"/>
          </a:xfrm>
          <a:prstGeom prst="roundRect">
            <a:avLst/>
          </a:prstGeom>
          <a:solidFill>
            <a:srgbClr val="F5F7FB"/>
          </a:solidFill>
          <a:ln>
            <a:solidFill>
              <a:srgbClr val="2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2B33"/>
                </a:solidFill>
              </a:defRPr>
            </a:pPr>
            <a:r>
              <a:t>INFERENCE: use those parameters → generate one token at a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Trainer recap: seven sentences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1. Text is converted into tokens.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2. Tokens become vectors.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3. Attention lets tokens use information from relevant earlier tokens.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4. Transformer layers repeatedly transform those representations.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5. The model outputs probabilities for the next token.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6. During training, cross-entropy loss + backpropagation + an optimizer change the weights.</a:t>
            </a:r>
          </a:p>
          <a:p>
            <a:pPr>
              <a:spcAft>
                <a:spcPts val="1200"/>
              </a:spcAft>
              <a:defRPr sz="1900">
                <a:solidFill>
                  <a:srgbClr val="262B33"/>
                </a:solidFill>
              </a:defRPr>
            </a:pPr>
            <a:r>
              <a:t>• 7. During inference, the learned weights are used repeatedly to generate new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5897880"/>
            <a:ext cx="10607040" cy="502920"/>
          </a:xfrm>
          <a:prstGeom prst="roundRect">
            <a:avLst/>
          </a:prstGeom>
          <a:solidFill>
            <a:srgbClr val="FFEFAA"/>
          </a:solidFill>
          <a:ln>
            <a:solidFill>
              <a:srgbClr val="FFE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037"/>
                </a:solidFill>
              </a:defRPr>
            </a:pPr>
            <a:r>
              <a:t>If your students understand these seven statements, they have the correct mental model to go deeper.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