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7498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BFDBFE"/>
                </a:solidFill>
                <a:latin typeface="Aptos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From absolute basics → architecture → real-world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698480" cy="1051560"/>
          </a:xfrm>
          <a:prstGeom prst="roundRect">
            <a:avLst/>
          </a:prstGeom>
          <a:solidFill>
            <a:srgbClr val="1E3A64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67912"/>
            <a:ext cx="10332719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One standard way for AI applications to discover and use external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Teaching deck • Beginner friendly • Architecture 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1. Start with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Why do we need a protocol at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An LLM knows how to generate text, but your useful data and actions live outside the model.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Applications need to connect models to files, databases, APIs, IDEs, SaaS systems, and internal services.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Without a common interface, every AI application builds its own custom integrations.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That creates duplicated adapters, inconsistent security, and high maintenance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45920"/>
            <a:ext cx="3749039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874519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64040" y="242316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338328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38328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4040" y="2423160"/>
            <a:ext cx="0" cy="9601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20" y="402336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GitHub / Jira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64040" y="2423160"/>
            <a:ext cx="0" cy="16002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466344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66344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Business APIs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4040" y="2423160"/>
            <a:ext cx="0" cy="22402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2. The N × M integration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Before a common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103120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103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Chat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2103120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103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IDE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2103120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103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Support 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783080"/>
            <a:ext cx="2011680" cy="566928"/>
          </a:xfrm>
          <a:prstGeom prst="roundRect">
            <a:avLst/>
          </a:prstGeom>
          <a:solidFill>
            <a:srgbClr val="F0FDFA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783080"/>
            <a:ext cx="2011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743200"/>
            <a:ext cx="2011680" cy="566928"/>
          </a:xfrm>
          <a:prstGeom prst="roundRect">
            <a:avLst/>
          </a:prstGeom>
          <a:solidFill>
            <a:srgbClr val="F0FDFA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743200"/>
            <a:ext cx="2011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703320"/>
            <a:ext cx="2011680" cy="566928"/>
          </a:xfrm>
          <a:prstGeom prst="roundRect">
            <a:avLst/>
          </a:prstGeom>
          <a:solidFill>
            <a:srgbClr val="F0FDFA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703320"/>
            <a:ext cx="2011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CRM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663440"/>
            <a:ext cx="2011680" cy="566928"/>
          </a:xfrm>
          <a:prstGeom prst="roundRect">
            <a:avLst/>
          </a:prstGeom>
          <a:solidFill>
            <a:srgbClr val="F0FDFA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663440"/>
            <a:ext cx="2011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Git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926080" y="2066543"/>
            <a:ext cx="5943600" cy="38404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2450592"/>
            <a:ext cx="5943600" cy="576071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80" y="2450592"/>
            <a:ext cx="5943600" cy="1536191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26080" y="2450592"/>
            <a:ext cx="5943600" cy="2496312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26080" y="2066543"/>
            <a:ext cx="5943600" cy="138988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3026663"/>
            <a:ext cx="5943600" cy="42976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26080" y="3456432"/>
            <a:ext cx="5943600" cy="530351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26080" y="3456432"/>
            <a:ext cx="5943600" cy="1490472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26080" y="2066543"/>
            <a:ext cx="5943600" cy="239572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926080" y="3026663"/>
            <a:ext cx="5943600" cy="143560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926080" y="3986783"/>
            <a:ext cx="5943600" cy="47548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26080" y="4462272"/>
            <a:ext cx="5943600" cy="484632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29000" y="5440680"/>
            <a:ext cx="5303520" cy="685800"/>
          </a:xfrm>
          <a:prstGeom prst="roundRect">
            <a:avLst/>
          </a:prstGeom>
          <a:solidFill>
            <a:srgbClr val="FEF2F2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5513832"/>
            <a:ext cx="493775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3 applications × 4 systems = up to 12 custom integration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3. MCP 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10241280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MCP is a standard protocol that lets AI applications discover and use external context and capabilities through MCP servers.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E1C34"/>
                </a:solidFill>
                <a:latin typeface="Aptos"/>
              </a:rPr>
              <a:t>Think of it 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25146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USB-C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Different devices can connect through a common interface instead of inventing a cable for every pair.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4290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25146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the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MCP does not replace the LLM. The model can still reason about what it wants to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4290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657600"/>
            <a:ext cx="25146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6576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the API itself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519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The real database/API/service still exists. MCP exposes it in an AI-friendly standard 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4. The three main architectural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5146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The AI application: IDE, desktop assistant, agent app, etc.
Owns the user experience and orchestrates the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25146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Protocol-side connection maintained by the host for a particular MCP server.
Handles MCP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25146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Exposes capabilities such as tools, resources, and prompts.
Talks to the actual external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166360"/>
            <a:ext cx="941832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239512"/>
            <a:ext cx="905256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Host contains/uses MCP clients → each client communicates with an MCP server.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5. Core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743200" cy="3383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MCP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10312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F172A"/>
                </a:solidFill>
                <a:latin typeface="Aptos"/>
              </a:rPr>
              <a:t>User interface
LLM / agent loop
Permissions
Conversation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965960"/>
            <a:ext cx="2103120" cy="265176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Aptos"/>
              </a:rPr>
              <a:t>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834640"/>
            <a:ext cx="15544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"/>
              </a:rPr>
              <a:t>Connect
Discover
Invoke
Receive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600200"/>
            <a:ext cx="2011680" cy="338328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830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65176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F172A"/>
                </a:solidFill>
                <a:latin typeface="Aptos"/>
              </a:rPr>
              <a:t>Tools
Resources
Prompts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965960"/>
            <a:ext cx="1691640" cy="26517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219456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EA580C"/>
                </a:solidFill>
                <a:latin typeface="Aptos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2834640"/>
            <a:ext cx="960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"/>
              </a:rPr>
              <a:t>DB
Files
API
SaaS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329184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09360" y="3291840"/>
            <a:ext cx="82296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3291840"/>
            <a:ext cx="59436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6. What does an MCP server expose?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5146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Actions/functions the model or host can invoke.
Examples:
• add(a,b)
• query_database(sql)
• create_ticket(...)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25146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Readable context identified by the server.
Examples:
• file contents
• schema docs
• project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25146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Reusable prompt templates/workflows exposed by the server.
Examples:
• code review prompt
• incident summary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7. A tiny example: Calculator MCP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288036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331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E1C34"/>
                </a:solidFill>
                <a:latin typeface="Aptos"/>
              </a:rPr>
              <a:t>User:
"Add 4 and 5"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834640" cy="356616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82880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Aptos"/>
              </a:rPr>
              <a:t>Model sees available tool: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423160"/>
            <a:ext cx="21031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"/>
              </a:rPr>
              <a:t>add
Description:
"Add two numbers"
Schema:
a: number
b: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54480"/>
            <a:ext cx="2880360" cy="356616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148840"/>
            <a:ext cx="233172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6A34A"/>
                </a:solidFill>
                <a:latin typeface="Aptos"/>
              </a:rPr>
              <a:t>MCP server executes:
add(4, 5)
→ 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3291840"/>
            <a:ext cx="9144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291840"/>
            <a:ext cx="8686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8. Who decides which tool to call?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101498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Aptos"/>
              </a:rPr>
              <a:t>Usually, the LLM proposes the tool call based on the user's intent + tool name + description + input schema.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host sends the model a description of available capabilities.</a:t>
            </a:r>
          </a:p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model reasons: “This request matches the add tool.”</a:t>
            </a:r>
          </a:p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host validates/authorizes the proposed call.</a:t>
            </a:r>
          </a:p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MCP client sends the call to the MCP server.</a:t>
            </a:r>
          </a:p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server executes it and returns a result.</a:t>
            </a:r>
          </a:p>
          <a:p>
            <a:pPr>
              <a:spcAft>
                <a:spcPts val="900"/>
              </a:spcAft>
              <a:defRPr sz="2000">
                <a:solidFill>
                  <a:srgbClr val="0F172A"/>
                </a:solidFill>
                <a:latin typeface="Aptos"/>
              </a:defRPr>
            </a:pPr>
            <a:r>
              <a:t>• The result is given back to the model so it can answer the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9. Tool descriptions are part of the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Aptos"/>
              </a:rPr>
              <a:t>Bad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4846320" cy="214884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297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tos"/>
              </a:rPr>
              <a:t>name: run
"description: does stuff"
inputs: x,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Aptos"/>
              </a:rPr>
              <a:t>Better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57400"/>
            <a:ext cx="4846320" cy="214884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2976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name: add
"description: Add two numeric values and return their sum."
inputs: a:number, b:number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4892040"/>
            <a:ext cx="93268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4965192"/>
            <a:ext cx="89611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Clear names, descriptions, schemas, and constraints improve tool selection and argument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10. End-to-end request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162763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Host establishes an MCP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62763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276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7276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2140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Client asks what the server offers.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630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162763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276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57276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2140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LLM chooses whether a capability is useful.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377647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7764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2160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Invoke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7024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Host/client sends the structured 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53712" y="377647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764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72160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27024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Server calls the real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48472" y="3776472"/>
            <a:ext cx="502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37764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721608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1C34"/>
                </a:solidFill>
                <a:latin typeface="Aptos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70248"/>
            <a:ext cx="2971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Result flows back to the host/model.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11. Local MCP: stdio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Best mental model: the host launches a local server process and communicates over standard input/output.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2834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AI HOST
(IDE / desktop app)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31720"/>
            <a:ext cx="2834640" cy="20116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78892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ptos"/>
              </a:rPr>
              <a:t>stdio
MCP connection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331720"/>
            <a:ext cx="283464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78892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ptos"/>
              </a:rPr>
              <a:t>LOCAL MCP
SERVER PROCESS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3337560"/>
            <a:ext cx="91440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3337560"/>
            <a:ext cx="91440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20240" y="5074920"/>
            <a:ext cx="83210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148072"/>
            <a:ext cx="795527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No separate public web API is required just to use a local stdio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12. Remote MCP: network transport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74320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HOST
Agent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2743200" cy="219456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46888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C3AED"/>
                </a:solidFill>
                <a:latin typeface="Aptos"/>
              </a:rPr>
              <a:t>MCP over
network transport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920240"/>
            <a:ext cx="2743200" cy="219456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46888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Aptos"/>
              </a:rPr>
              <a:t>REMOTE
MCP SERVER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3017520"/>
            <a:ext cx="10972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3017520"/>
            <a:ext cx="10972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461772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5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Useful for shared enterprise services.</a:t>
            </a:r>
          </a:p>
          <a:p>
            <a:pPr>
              <a:spcAft>
                <a:spcPts val="765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Requires authentication, authorization, network security, and operational controls.</a:t>
            </a:r>
          </a:p>
          <a:p>
            <a:pPr>
              <a:spcAft>
                <a:spcPts val="765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The underlying business API can still remain behind the MCP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13. MCP server vs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2194560" cy="566928"/>
          </a:xfrm>
          <a:prstGeom prst="rect">
            <a:avLst/>
          </a:prstGeom>
          <a:solidFill>
            <a:srgbClr val="0E1C34"/>
          </a:solidFill>
          <a:ln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508760"/>
            <a:ext cx="4389120" cy="566928"/>
          </a:xfrm>
          <a:prstGeom prst="rect">
            <a:avLst/>
          </a:prstGeom>
          <a:solidFill>
            <a:srgbClr val="0E1C34"/>
          </a:solidFill>
          <a:ln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508760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508760"/>
            <a:ext cx="4389120" cy="566928"/>
          </a:xfrm>
          <a:prstGeom prst="rect">
            <a:avLst/>
          </a:prstGeom>
          <a:solidFill>
            <a:srgbClr val="0E1C34"/>
          </a:solidFill>
          <a:ln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508760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75688"/>
            <a:ext cx="219456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201167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075688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21408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AI-facing capability/context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075688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121408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General application-to-application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62072"/>
            <a:ext cx="219456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07791"/>
            <a:ext cx="201167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862072"/>
            <a:ext cx="438912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907791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Capabilities can be described/discovered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862072"/>
            <a:ext cx="438912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2907791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Usually external documentation/OpenAPI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648456"/>
            <a:ext cx="219456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94176"/>
            <a:ext cx="201167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Model-friendly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648456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694176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Core part of tool/resource exposure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648456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3694176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Possible, but not the primary abstraction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434840"/>
            <a:ext cx="219456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80559"/>
            <a:ext cx="201167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4434840"/>
            <a:ext cx="438912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4480559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Server may wrap APIs, DBs, files, SDKs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4434840"/>
            <a:ext cx="438912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79" y="4480559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Endpoint executes business operation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221224"/>
            <a:ext cx="219456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66944"/>
            <a:ext cx="2011679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Relationship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5221224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266944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Can sit on top of REST APIs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5221224"/>
            <a:ext cx="4389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5266944"/>
            <a:ext cx="42062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Can exist independently of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14. MCP vs LangChain vs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5146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Integration protocol.
Standardizes how AI hosts connect to external capabilities and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25146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Application framework.
Provides abstractions for models, tools, retrieval, agents, and integrations.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25146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2316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Workflow/agent orchestration.
Models stateful execution as graphs with nodes, edges, loops, and checkpoints.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257800"/>
            <a:ext cx="987552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330952"/>
            <a:ext cx="95097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They can be used together: LangGraph orchestrates → model chooses → MCP connects → server executes.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15. Use case: database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210312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737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E1C34"/>
                </a:solidFill>
                <a:latin typeface="Aptos"/>
              </a:rPr>
              <a:t>User:
"Who has the highest salary?"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965960"/>
            <a:ext cx="210312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5146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Aptos"/>
              </a:rPr>
              <a:t>LLM
chooses DB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965960"/>
            <a:ext cx="210312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1737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A34A"/>
                </a:solidFill>
                <a:latin typeface="Aptos"/>
              </a:rPr>
              <a:t>MCP SERVER
validates +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965960"/>
            <a:ext cx="2103120" cy="2103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5146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A580C"/>
                </a:solidFill>
                <a:latin typeface="Aptos"/>
              </a:rPr>
              <a:t>PostgreSQL
returns 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301752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301752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83879" y="3017520"/>
            <a:ext cx="59436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554480" y="4937760"/>
            <a:ext cx="905256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010912"/>
            <a:ext cx="86868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MCP is the standardized bridge; PostgreSQL remains the actual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16. Common real-world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0632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Developer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Read repositories, search code, run tests, inspect issues, interact with dev tooling.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306324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Enterprise assistants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CRM, ticketing, knowledge bases, internal APIs, reporting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1600200"/>
            <a:ext cx="306324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Query databases, fetch schemas, execute governed analytics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840480"/>
            <a:ext cx="3063240" cy="38404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Document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Read files, retrieve policies, summarize controlled knowledge 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3840480"/>
            <a:ext cx="3063240" cy="38404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348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Inspect logs, deployments, monitoring, incident systems, run approved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66760" y="3840480"/>
            <a:ext cx="3063240" cy="38404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Personal productivity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Calendar, email, notes, files—subject to host permissions and available servers.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17. Enterprise architecture: many MCP servers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228600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920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AI HOST
Agent / IDE /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148840" cy="114300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Aptos"/>
              </a:rPr>
              <a:t>Git 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743200"/>
            <a:ext cx="2148840" cy="114300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0632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Aptos"/>
              </a:rPr>
              <a:t>DB 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069080"/>
            <a:ext cx="2148840" cy="114300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3891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Aptos"/>
              </a:rPr>
              <a:t>Ticket MCP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34640" y="1993392"/>
            <a:ext cx="594360" cy="1161288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34640" y="3154680"/>
            <a:ext cx="594360" cy="164592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34640" y="3154680"/>
            <a:ext cx="594360" cy="1490472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141732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7373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A34A"/>
                </a:solidFill>
                <a:latin typeface="Aptos"/>
              </a:rPr>
              <a:t>Git provider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77840" y="1993392"/>
            <a:ext cx="1737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27432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06324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Aptos"/>
              </a:rPr>
              <a:t>PostgreSQL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77840" y="3319272"/>
            <a:ext cx="1737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406908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3891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6B6D4"/>
                </a:solidFill>
                <a:latin typeface="Aptos"/>
              </a:rPr>
              <a:t>Ticketing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7840" y="4645152"/>
            <a:ext cx="1737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34440" y="5577840"/>
            <a:ext cx="9692640" cy="621792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650992"/>
            <a:ext cx="9326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Each server can enforce its own credentials, scopes, policies, and audit trail.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18. Security: where MCP needs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Least privilege: expose only the capabilities the agent genuinely needs.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Human approval: destructive or high-impact actions should have explicit confirmation gates.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Validate inputs: never trust model-generated arguments blindly.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Authenticate remote servers and authorize every sensitive operation.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Separate read-only resources from mutating tools where possible.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Audit tool calls, identities, parameters, outcomes, and failures.</a:t>
            </a:r>
          </a:p>
          <a:p>
            <a:pPr>
              <a:spcAft>
                <a:spcPts val="81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Treat server descriptions and returned content as untrusted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45920"/>
            <a:ext cx="3383280" cy="35661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874519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Aptos"/>
              </a:rPr>
              <a:t>Trust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606040"/>
            <a:ext cx="21031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MODEL
↓
HOST POLICY
↓
MCP SERVER
↓
REAL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19. What MCP does NOT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make the LLM correct.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guarantee the model chooses the right tool.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automatically make unsafe tools safe.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replace application authorization or business rules.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replace LangGraph-style orchestration when you need deterministic workflows.</a:t>
            </a:r>
          </a:p>
          <a:p>
            <a:pPr>
              <a:spcAft>
                <a:spcPts val="945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• It does not eliminate the underlying API/database/service.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166360"/>
            <a:ext cx="97840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5239512"/>
            <a:ext cx="9418319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Aptos"/>
              </a:rPr>
              <a:t>MCP standardizes the connection contract. Your application still owns reasoning strategy, policy, UX, and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20. Good MCP server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25146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DESCRIBE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Use precise tool names, descriptions, schemas, examples, and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25146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KEEP TOOLS NARROW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Prefer clear business operations over giant do-everything 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554480"/>
            <a:ext cx="2971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783080"/>
            <a:ext cx="2514600" cy="38404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FOR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37744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Read-only by default where practical; require explicit gates for mutation.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9784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Return structured, concise results.</a:t>
            </a:r>
          </a:p>
          <a:p>
            <a:pPr>
              <a:spcAft>
                <a:spcPts val="72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Make failures explicit and actionable.</a:t>
            </a:r>
          </a:p>
          <a:p>
            <a:pPr>
              <a:spcAft>
                <a:spcPts val="72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Avoid leaking credentials or unnecessary sensitive context.</a:t>
            </a:r>
          </a:p>
          <a:p>
            <a:pPr>
              <a:spcAft>
                <a:spcPts val="72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Version behavior carefully and keep semantics stable.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21. Build a simple MCP demo in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E1C34"/>
                </a:solidFill>
                <a:latin typeface="Aptos"/>
              </a:rPr>
              <a:t>Demo goal: “Add 4 and 5” using an MCP calculator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1762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762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214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Expose add, subtract, multiply, divide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762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1762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214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Host/client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Connect to the server and discover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011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48472" y="21762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1762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214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Give the model the tool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0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40050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0050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502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Ask: “What is 4 + 5?”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3712" y="40050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0050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9502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Tool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4805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Model proposes add(a=4,b=5).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840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48472" y="400507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400507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95020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1C34"/>
                </a:solidFill>
                <a:latin typeface="Aptos"/>
              </a:rPr>
              <a:t>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80560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Server returns 9; model responds naturally.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MCP • Model Context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22. The mental model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8288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17320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decides / proposes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41732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What capability should I use?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18288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60320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orchestrates / governs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56032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Is the call allowed? What context is passed?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1828800" cy="384048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703320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standardizes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70332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How do host and server communicate?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82880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846320"/>
            <a:ext cx="2423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executes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84632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Call the real file, DB, API, or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LLM decides → Host governs → MCP communicates → Server executes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E1C34"/>
                </a:solidFill>
                <a:latin typeface="Aptos"/>
              </a:rPr>
              <a:t>23. Final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MCP exists because AI applications need a standard way to connect to external capabilities.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The key roles are Host, Client, and Server.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Servers expose tools, resources, and prompts.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The LLM can propose a tool call; the host remains responsible for orchestration and policy.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MCP can work locally or across a network.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MCP complements APIs and agent frameworks rather than replacing them.</a:t>
            </a:r>
          </a:p>
          <a:p>
            <a:pPr>
              <a:spcAft>
                <a:spcPts val="855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Security, permissions, validation, and auditability remain application responsibilities.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623560"/>
            <a:ext cx="100584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696712"/>
            <a:ext cx="969264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E1C34"/>
                </a:solidFill>
                <a:latin typeface="Aptos"/>
              </a:rPr>
              <a:t>If students remember one line: MCP is the standardized integration layer between AI applications and external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