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LangChain</a:t>
            </a:r>
          </a:p>
          <a:p>
            <a:pPr>
              <a:spcBef>
                <a:spcPts val="1200"/>
              </a:spcBef>
              <a:defRPr sz="2000">
                <a:solidFill>
                  <a:srgbClr val="CDD7E6"/>
                </a:solidFill>
              </a:defRPr>
            </a:pPr>
            <a:r>
              <a:t>What it is • Why we need it • Core capabilities • Architecture • Practical use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77639"/>
            <a:ext cx="2834640" cy="960120"/>
          </a:xfrm>
          <a:prstGeom prst="roundRect">
            <a:avLst/>
          </a:prstGeom>
          <a:solidFill>
            <a:srgbClr val="19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4270248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3977639"/>
            <a:ext cx="2834640" cy="960120"/>
          </a:xfrm>
          <a:prstGeom prst="roundRect">
            <a:avLst/>
          </a:prstGeom>
          <a:solidFill>
            <a:srgbClr val="2F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4270248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LangChain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3977639"/>
            <a:ext cx="2834640" cy="960120"/>
          </a:xfrm>
          <a:prstGeom prst="roundRect">
            <a:avLst/>
          </a:prstGeom>
          <a:solidFill>
            <a:srgbClr val="79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4270248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Models + Tools +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F2A"/>
                </a:solidFill>
              </a:defRPr>
            </a:pPr>
            <a:r>
              <a:t>1. What is LangChain?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474720" cy="192024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1920240"/>
          </a:xfrm>
          <a:prstGeom prst="rect">
            <a:avLst/>
          </a:prstGeom>
          <a:solidFill>
            <a:srgbClr val="2F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73351"/>
            <a:ext cx="30632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Application framework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A framework for building applications that use language models as one component of a larger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08760"/>
            <a:ext cx="3474720" cy="192024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73152" cy="1920240"/>
          </a:xfrm>
          <a:prstGeom prst="rect">
            <a:avLst/>
          </a:prstGeom>
          <a:solidFill>
            <a:srgbClr val="19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73351"/>
            <a:ext cx="30632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Orchestration layer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Connects prompts, models, tools, retrievers, structured output, memory/history and application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508760"/>
            <a:ext cx="3474720" cy="192024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508760"/>
            <a:ext cx="73152" cy="1920240"/>
          </a:xfrm>
          <a:prstGeom prst="rect">
            <a:avLst/>
          </a:prstGeom>
          <a:solidFill>
            <a:srgbClr val="79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73351"/>
            <a:ext cx="30632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Model-independent design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Lets an application integrate different model providers and surrounding infrastructure through common abstractions.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86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91F2A"/>
                </a:solidFill>
              </a:defRPr>
            </a:pPr>
            <a:r>
              <a:t>• LangChain is not an LLM and does not train a foundation model.</a:t>
            </a:r>
          </a:p>
          <a:p>
            <a:pPr>
              <a:spcAft>
                <a:spcPts val="1000"/>
              </a:spcAft>
              <a:defRPr sz="1500">
                <a:solidFill>
                  <a:srgbClr val="191F2A"/>
                </a:solidFill>
              </a:defRPr>
            </a:pPr>
            <a:r>
              <a:t>• Think of it as the application/orchestration layer around an LLM.</a:t>
            </a:r>
          </a:p>
          <a:p>
            <a:pPr>
              <a:spcAft>
                <a:spcPts val="1000"/>
              </a:spcAft>
              <a:defRPr sz="1500">
                <a:solidFill>
                  <a:srgbClr val="191F2A"/>
                </a:solidFill>
              </a:defRPr>
            </a:pPr>
            <a:r>
              <a:t>• It is especially useful when one model call is not enough.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F2A"/>
                </a:solidFill>
              </a:defRPr>
            </a:pPr>
            <a:r>
              <a:t>2. Why do we need LangChain?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97D"/>
                </a:solidFill>
              </a:defRPr>
            </a:pPr>
            <a:r>
              <a:t>The gap between a simple model call and a production AI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1024128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73351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Prompt →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73351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F69FF"/>
                </a:solidFill>
              </a:defRPr>
            </a:pPr>
            <a:r>
              <a:t>Easy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673351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D"/>
                </a:solidFill>
              </a:defRPr>
            </a:pPr>
            <a:r>
              <a:t>One request, one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26080"/>
            <a:ext cx="1024128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09067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Real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90672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F69FF"/>
                </a:solidFill>
              </a:defRPr>
            </a:pPr>
            <a:r>
              <a:t>Harder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090672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D"/>
                </a:solidFill>
              </a:defRPr>
            </a:pPr>
            <a:r>
              <a:t>Data retrieval, tools, state, validation, retries, observability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43400"/>
            <a:ext cx="1024128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50799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LangChain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507992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F69FF"/>
                </a:solidFill>
              </a:defRPr>
            </a:pPr>
            <a:r>
              <a:t>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507992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D"/>
                </a:solidFill>
              </a:defRPr>
            </a:pPr>
            <a:r>
              <a:t>Provides reusable building blocks for these concerns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F2A"/>
                </a:solidFill>
              </a:defRPr>
            </a:pPr>
            <a:r>
              <a:t>3. Core building blocks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783080"/>
          </a:xfrm>
          <a:prstGeom prst="rect">
            <a:avLst/>
          </a:prstGeom>
          <a:solidFill>
            <a:srgbClr val="2F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Models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Chat/LLM and embedding model integrations.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42900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1417320"/>
            <a:ext cx="73152" cy="1783080"/>
          </a:xfrm>
          <a:prstGeom prst="rect">
            <a:avLst/>
          </a:prstGeom>
          <a:solidFill>
            <a:srgbClr val="19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581912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Prompts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Reusable templates for system/user instructions and variables.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42900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1417320"/>
            <a:ext cx="73152" cy="1783080"/>
          </a:xfrm>
          <a:prstGeom prst="rect">
            <a:avLst/>
          </a:prstGeom>
          <a:solidFill>
            <a:srgbClr val="79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581912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Messages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System, human, AI and tool messages in conversational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342900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657600"/>
            <a:ext cx="73152" cy="1783080"/>
          </a:xfrm>
          <a:prstGeom prst="rect">
            <a:avLst/>
          </a:prstGeom>
          <a:solidFill>
            <a:srgbClr val="2F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22191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Output parsers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Convert model output into strings or structured application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57600"/>
            <a:ext cx="342900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3657600"/>
            <a:ext cx="73152" cy="1783080"/>
          </a:xfrm>
          <a:prstGeom prst="rect">
            <a:avLst/>
          </a:prstGeom>
          <a:solidFill>
            <a:srgbClr val="19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822191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Runnables / chains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Compose steps into reusable pipelines.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657600"/>
            <a:ext cx="342900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3657600"/>
            <a:ext cx="73152" cy="1783080"/>
          </a:xfrm>
          <a:prstGeom prst="rect">
            <a:avLst/>
          </a:prstGeom>
          <a:solidFill>
            <a:srgbClr val="79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822191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Tools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Functions/APIs an agent or workflow can call.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F2A"/>
                </a:solidFill>
              </a:defRPr>
            </a:pPr>
            <a:r>
              <a:t>4. Chains: composing a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331720" cy="1325880"/>
          </a:xfrm>
          <a:prstGeom prst="roundRect">
            <a:avLst/>
          </a:prstGeom>
          <a:solidFill>
            <a:srgbClr val="E7E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2057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91F2A"/>
                </a:solidFill>
              </a:defRPr>
            </a:pPr>
            <a:r>
              <a:t>Prompt</a:t>
            </a:r>
          </a:p>
          <a:p>
            <a:pPr algn="ctr">
              <a:defRPr sz="1050">
                <a:solidFill>
                  <a:srgbClr val="5C697D"/>
                </a:solidFill>
              </a:defRPr>
            </a:pPr>
            <a:r>
              <a:t>Build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5808" y="22402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2F69FF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828800"/>
            <a:ext cx="2331720" cy="1325880"/>
          </a:xfrm>
          <a:prstGeom prst="roundRect">
            <a:avLst/>
          </a:prstGeom>
          <a:solidFill>
            <a:srgbClr val="E6F8F4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9" y="2103120"/>
            <a:ext cx="2057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91F2A"/>
                </a:solidFill>
              </a:defRPr>
            </a:pPr>
            <a:r>
              <a:t>Model</a:t>
            </a:r>
          </a:p>
          <a:p>
            <a:pPr algn="ctr">
              <a:defRPr sz="1050">
                <a:solidFill>
                  <a:srgbClr val="5C697D"/>
                </a:solidFill>
              </a:defRPr>
            </a:pPr>
            <a:r>
              <a:t>Generate / reason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168" y="22402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2F69FF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331720" cy="1325880"/>
          </a:xfrm>
          <a:prstGeom prst="roundRect">
            <a:avLst/>
          </a:prstGeom>
          <a:solidFill>
            <a:srgbClr val="F1EB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03120"/>
            <a:ext cx="2057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91F2A"/>
                </a:solidFill>
              </a:defRPr>
            </a:pPr>
            <a:r>
              <a:t>Parser</a:t>
            </a:r>
          </a:p>
          <a:p>
            <a:pPr algn="ctr">
              <a:defRPr sz="1050">
                <a:solidFill>
                  <a:srgbClr val="5C697D"/>
                </a:solidFill>
              </a:defRPr>
            </a:pPr>
            <a:r>
              <a:t>Normalize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22402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2F69FF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59" y="1828800"/>
            <a:ext cx="23317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19" y="2103120"/>
            <a:ext cx="2057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91F2A"/>
                </a:solidFill>
              </a:defRPr>
            </a:pPr>
            <a:r>
              <a:t>App</a:t>
            </a:r>
          </a:p>
          <a:p>
            <a:pPr algn="ctr">
              <a:defRPr sz="1050">
                <a:solidFill>
                  <a:srgbClr val="5C697D"/>
                </a:solidFill>
              </a:defRPr>
            </a:pPr>
            <a:r>
              <a:t>Use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862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121C2D"/>
                </a:solidFill>
                <a:latin typeface="Courier New"/>
              </a:defRPr>
            </a:pPr>
            <a:r>
              <a:t>chain = prompt | llm | StrOutputParser()</a:t>
            </a:r>
          </a:p>
          <a:p>
            <a:pPr algn="ctr">
              <a:defRPr sz="1800">
                <a:solidFill>
                  <a:srgbClr val="5C697D"/>
                </a:solidFill>
                <a:latin typeface="Courier New"/>
              </a:defRPr>
            </a:pPr>
            <a:r>
              <a:t>chain.invoke({"topic": "Go concurrency"})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F2A"/>
                </a:solidFill>
              </a:defRPr>
            </a:pPr>
            <a:r>
              <a:t>5. Chat history and conversational state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8328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2F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In-memory history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Useful for demos and tests. History disappears when the process 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19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81912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Persistent history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Store conversation messages in PostgreSQL, Redis or another durable store.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38328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79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581912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Session isolation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Use a session/user/conversation identifier so each conversation gets the correct history.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91F2A"/>
                </a:solidFill>
              </a:defRPr>
            </a:pPr>
            <a:r>
              <a:t>• History is context supplied to the model; it is not the same thing as changing the model's trained weights.</a:t>
            </a:r>
          </a:p>
          <a:p>
            <a:pPr>
              <a:spcAft>
                <a:spcPts val="1000"/>
              </a:spcAft>
              <a:defRPr sz="1500">
                <a:solidFill>
                  <a:srgbClr val="191F2A"/>
                </a:solidFill>
              </a:defRPr>
            </a:pPr>
            <a:r>
              <a:t>• Long conversations often require trimming, summarization or selective retrieval to control context size.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F2A"/>
                </a:solidFill>
              </a:defRPr>
            </a:pPr>
            <a:r>
              <a:t>6. Retrieval-Augmented Generation (RAG)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24231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73152" cy="1417320"/>
          </a:xfrm>
          <a:prstGeom prst="rect">
            <a:avLst/>
          </a:prstGeom>
          <a:solidFill>
            <a:srgbClr val="2F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20116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Question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User 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20116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C697D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1554480"/>
            <a:ext cx="24231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02152" y="1554480"/>
            <a:ext cx="73152" cy="1417320"/>
          </a:xfrm>
          <a:prstGeom prst="rect">
            <a:avLst/>
          </a:prstGeom>
          <a:solidFill>
            <a:srgbClr val="19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1719072"/>
            <a:ext cx="20116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Retriever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Search relevant chunks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2" y="20116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C697D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9944" y="1554480"/>
            <a:ext cx="24231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9944" y="1554480"/>
            <a:ext cx="73152" cy="1417320"/>
          </a:xfrm>
          <a:prstGeom prst="rect">
            <a:avLst/>
          </a:prstGeom>
          <a:solidFill>
            <a:srgbClr val="79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1719072"/>
            <a:ext cx="20116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Context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Return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20116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C697D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17736" y="1554480"/>
            <a:ext cx="24231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17736" y="1554480"/>
            <a:ext cx="73152" cy="1417320"/>
          </a:xfrm>
          <a:prstGeom prst="rect">
            <a:avLst/>
          </a:prstGeom>
          <a:solidFill>
            <a:srgbClr val="2F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6336" y="1719072"/>
            <a:ext cx="20116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LLM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Answer with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191F2A"/>
                </a:solidFill>
              </a:defRPr>
            </a:pPr>
            <a:r>
              <a:t>• Documents are split into chunks, embedded as vectors and stored in a vector store.</a:t>
            </a:r>
          </a:p>
          <a:p>
            <a:pPr>
              <a:spcAft>
                <a:spcPts val="1000"/>
              </a:spcAft>
              <a:defRPr sz="1450">
                <a:solidFill>
                  <a:srgbClr val="191F2A"/>
                </a:solidFill>
              </a:defRPr>
            </a:pPr>
            <a:r>
              <a:t>• At query time, relevant chunks are retrieved and inserted into the model context.</a:t>
            </a:r>
          </a:p>
          <a:p>
            <a:pPr>
              <a:spcAft>
                <a:spcPts val="1000"/>
              </a:spcAft>
              <a:defRPr sz="1450">
                <a:solidFill>
                  <a:srgbClr val="191F2A"/>
                </a:solidFill>
              </a:defRPr>
            </a:pPr>
            <a:r>
              <a:t>• Common uses: internal knowledge assistants, policy Q&amp;A, product documentation and support.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F2A"/>
                </a:solidFill>
              </a:defRPr>
            </a:pPr>
            <a:r>
              <a:t>7. Tools and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8328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1874519"/>
          </a:xfrm>
          <a:prstGeom prst="rect">
            <a:avLst/>
          </a:prstGeom>
          <a:solidFill>
            <a:srgbClr val="2F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29718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Tools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Callable functions such as database queries, REST APIs, calculators, search or internal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417320"/>
            <a:ext cx="73152" cy="1874519"/>
          </a:xfrm>
          <a:prstGeom prst="rect">
            <a:avLst/>
          </a:prstGeom>
          <a:solidFill>
            <a:srgbClr val="19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81912"/>
            <a:ext cx="29718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Agent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A model-driven loop that can decide which tool to use and use observations to choose the next 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38328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17320"/>
            <a:ext cx="73152" cy="1874519"/>
          </a:xfrm>
          <a:prstGeom prst="rect">
            <a:avLst/>
          </a:prstGeom>
          <a:solidFill>
            <a:srgbClr val="79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581912"/>
            <a:ext cx="29718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Controlled workflows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For deterministic business processes, explicitly defined workflow steps can be safer and easier to test.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191F2A"/>
                </a:solidFill>
              </a:defRPr>
            </a:pPr>
            <a:r>
              <a:t>• Example: “What are my pending orders?” → model selects an order-search tool → tool returns data → model formats the answer.</a:t>
            </a:r>
          </a:p>
          <a:p>
            <a:pPr>
              <a:spcAft>
                <a:spcPts val="1000"/>
              </a:spcAft>
              <a:defRPr sz="1450">
                <a:solidFill>
                  <a:srgbClr val="191F2A"/>
                </a:solidFill>
              </a:defRPr>
            </a:pPr>
            <a:r>
              <a:t>• Use permissions, validation and guardrails around tools that can change external systems.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F2A"/>
                </a:solidFill>
              </a:defRPr>
            </a:pPr>
            <a:r>
              <a:t>8. Structured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0292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1F2A"/>
                </a:solidFill>
              </a:defRPr>
            </a:pPr>
            <a:r>
              <a:t>Natural-language output</a:t>
            </a:r>
          </a:p>
          <a:p>
            <a:pPr>
              <a:spcBef>
                <a:spcPts val="1800"/>
              </a:spcBef>
              <a:defRPr sz="1600">
                <a:solidFill>
                  <a:srgbClr val="5C697D"/>
                </a:solidFill>
              </a:defRPr>
            </a:pPr>
            <a:r>
              <a:t>“The payment is approved for ₹5,000.”</a:t>
            </a:r>
          </a:p>
          <a:p>
            <a:pPr>
              <a:spcBef>
                <a:spcPts val="1800"/>
              </a:spcBef>
              <a:defRPr sz="1400">
                <a:solidFill>
                  <a:srgbClr val="5C697D"/>
                </a:solidFill>
              </a:defRPr>
            </a:pPr>
            <a:r>
              <a:t>Useful for humans, but harder for software to validate and consume.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F69FF"/>
                </a:solidFill>
              </a:defRPr>
            </a:pPr>
            <a:r>
              <a:t>Structured output</a:t>
            </a:r>
          </a:p>
          <a:p>
            <a:pPr>
              <a:defRPr sz="1600">
                <a:solidFill>
                  <a:srgbClr val="191F2A"/>
                </a:solidFill>
                <a:latin typeface="Courier New"/>
              </a:defRPr>
            </a:pPr>
            <a:r>
              <a:t>{</a:t>
            </a:r>
          </a:p>
          <a:p>
            <a:pPr>
              <a:defRPr sz="1600">
                <a:solidFill>
                  <a:srgbClr val="191F2A"/>
                </a:solidFill>
                <a:latin typeface="Courier New"/>
              </a:defRPr>
            </a:pPr>
            <a:r>
              <a:t>  "status": "approved",</a:t>
            </a:r>
          </a:p>
          <a:p>
            <a:pPr>
              <a:defRPr sz="1600">
                <a:solidFill>
                  <a:srgbClr val="191F2A"/>
                </a:solidFill>
                <a:latin typeface="Courier New"/>
              </a:defRPr>
            </a:pPr>
            <a:r>
              <a:t>  "amount": 5000,</a:t>
            </a:r>
          </a:p>
          <a:p>
            <a:pPr>
              <a:defRPr sz="1600">
                <a:solidFill>
                  <a:srgbClr val="191F2A"/>
                </a:solidFill>
                <a:latin typeface="Courier New"/>
              </a:defRPr>
            </a:pPr>
            <a:r>
              <a:t>  "currency": "INR"</a:t>
            </a:r>
          </a:p>
          <a:p>
            <a:pPr>
              <a:defRPr sz="1600">
                <a:solidFill>
                  <a:srgbClr val="191F2A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F2A"/>
                </a:solidFill>
              </a:defRPr>
            </a:pPr>
            <a:r>
              <a:t>9. Model and provider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91F2A"/>
                </a:solidFill>
              </a:defRPr>
            </a:pPr>
            <a:r>
              <a:t>• Cloud-hosted model APIs</a:t>
            </a:r>
          </a:p>
          <a:p>
            <a:pPr>
              <a:spcAft>
                <a:spcPts val="1000"/>
              </a:spcAft>
              <a:defRPr sz="1600">
                <a:solidFill>
                  <a:srgbClr val="191F2A"/>
                </a:solidFill>
              </a:defRPr>
            </a:pPr>
            <a:r>
              <a:t>• Locally hosted models through integrations such as Ollama</a:t>
            </a:r>
          </a:p>
          <a:p>
            <a:pPr>
              <a:spcAft>
                <a:spcPts val="1000"/>
              </a:spcAft>
              <a:defRPr sz="1600">
                <a:solidFill>
                  <a:srgbClr val="191F2A"/>
                </a:solidFill>
              </a:defRPr>
            </a:pPr>
            <a:r>
              <a:t>• Embedding models for semantic retrieval</a:t>
            </a:r>
          </a:p>
          <a:p>
            <a:pPr>
              <a:spcAft>
                <a:spcPts val="1000"/>
              </a:spcAft>
              <a:defRPr sz="1600">
                <a:solidFill>
                  <a:srgbClr val="191F2A"/>
                </a:solidFill>
              </a:defRPr>
            </a:pPr>
            <a:r>
              <a:t>• Vector stores and databases</a:t>
            </a:r>
          </a:p>
          <a:p>
            <a:pPr>
              <a:spcAft>
                <a:spcPts val="1000"/>
              </a:spcAft>
              <a:defRPr sz="1600">
                <a:solidFill>
                  <a:srgbClr val="191F2A"/>
                </a:solidFill>
              </a:defRPr>
            </a:pPr>
            <a:r>
              <a:t>• External tools and application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54480"/>
            <a:ext cx="4572000" cy="356616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0" y="1554480"/>
            <a:ext cx="73152" cy="3566160"/>
          </a:xfrm>
          <a:prstGeom prst="rect">
            <a:avLst/>
          </a:prstGeom>
          <a:solidFill>
            <a:srgbClr val="79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719072"/>
            <a:ext cx="4160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Why abstraction matters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Your business workflow can be designed around interfaces and components rather than tightly coupling every step to a single model vendor.</a:t>
            </a:r>
            <a:br/>
            <a:br/>
            <a:r>
              <a:t>Provider-specific capabilities still differ, so portability is not always automatic.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F2A"/>
                </a:solidFill>
              </a:defRPr>
            </a:pPr>
            <a:r>
              <a:t>10. Typical LangChain application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234440"/>
            <a:ext cx="8503920" cy="868680"/>
          </a:xfrm>
          <a:prstGeom prst="roundRect">
            <a:avLst/>
          </a:prstGeom>
          <a:solidFill>
            <a:srgbClr val="EBF2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380744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91F2A"/>
                </a:solidFill>
              </a:defRPr>
            </a:pPr>
            <a:r>
              <a:t>UI / API  —  Web • Mobile • REST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423160"/>
            <a:ext cx="8503920" cy="868680"/>
          </a:xfrm>
          <a:prstGeom prst="roundRect">
            <a:avLst/>
          </a:prstGeom>
          <a:solidFill>
            <a:srgbClr val="EBF9F6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2569464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91F2A"/>
                </a:solidFill>
              </a:defRPr>
            </a:pPr>
            <a:r>
              <a:t>Application  —  Business rules • auth •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611880"/>
            <a:ext cx="8503920" cy="868680"/>
          </a:xfrm>
          <a:prstGeom prst="roundRect">
            <a:avLst/>
          </a:prstGeom>
          <a:solidFill>
            <a:srgbClr val="F2E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3758184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LangChain  —  Prompt • retrieval • tools • chains/agents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800600"/>
            <a:ext cx="850392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4946904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91F2A"/>
                </a:solidFill>
              </a:defRPr>
            </a:pPr>
            <a:r>
              <a:t>Infrastructure  —  LLM • embeddings • PostgreSQL • vector DB •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F2A"/>
                </a:solidFill>
              </a:defRPr>
            </a:pPr>
            <a:r>
              <a:t>11. Practical use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783080"/>
          </a:xfrm>
          <a:prstGeom prst="rect">
            <a:avLst/>
          </a:prstGeom>
          <a:solidFill>
            <a:srgbClr val="2F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Knowledge assistant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RAG over company documents.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42900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1417320"/>
            <a:ext cx="73152" cy="1783080"/>
          </a:xfrm>
          <a:prstGeom prst="rect">
            <a:avLst/>
          </a:prstGeom>
          <a:solidFill>
            <a:srgbClr val="19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581912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Support copilot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Retrieve customer/product context and draft answers.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42900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1417320"/>
            <a:ext cx="73152" cy="1783080"/>
          </a:xfrm>
          <a:prstGeom prst="rect">
            <a:avLst/>
          </a:prstGeom>
          <a:solidFill>
            <a:srgbClr val="79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581912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Data assistant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Translate questions into controlled database/tool operations.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342900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657600"/>
            <a:ext cx="73152" cy="1783080"/>
          </a:xfrm>
          <a:prstGeom prst="rect">
            <a:avLst/>
          </a:prstGeom>
          <a:solidFill>
            <a:srgbClr val="2F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22191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Document processing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Extract, classify and structure information.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57600"/>
            <a:ext cx="342900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3657600"/>
            <a:ext cx="73152" cy="1783080"/>
          </a:xfrm>
          <a:prstGeom prst="rect">
            <a:avLst/>
          </a:prstGeom>
          <a:solidFill>
            <a:srgbClr val="19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822191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Developer assistant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Combine code context, retrieval and tools.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657600"/>
            <a:ext cx="342900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3657600"/>
            <a:ext cx="73152" cy="1783080"/>
          </a:xfrm>
          <a:prstGeom prst="rect">
            <a:avLst/>
          </a:prstGeom>
          <a:solidFill>
            <a:srgbClr val="79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822191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Workflow automation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Use models inside multi-step business processes.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F2A"/>
                </a:solidFill>
              </a:defRPr>
            </a:pPr>
            <a:r>
              <a:t>12. When LangChain is useful — and when it may be unnecessary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303520" cy="402336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4023360"/>
          </a:xfrm>
          <a:prstGeom prst="rect">
            <a:avLst/>
          </a:prstGeom>
          <a:solidFill>
            <a:srgbClr val="19A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48920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Good fit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• Multiple model/tool/retrieval steps</a:t>
            </a:r>
            <a:br/>
            <a:r>
              <a:t>• RAG applications</a:t>
            </a:r>
            <a:br/>
            <a:r>
              <a:t>• Conversational applications with state</a:t>
            </a:r>
            <a:br/>
            <a:r>
              <a:t>• Agentic workflows</a:t>
            </a:r>
            <a:br/>
            <a:r>
              <a:t>• Need reusable orchestration abstractions</a:t>
            </a:r>
            <a:br/>
            <a:r>
              <a:t>• Need to swap or combine integrations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166360" cy="4023360"/>
          </a:xfrm>
          <a:prstGeom prst="roundRect">
            <a:avLst/>
          </a:prstGeom>
          <a:solidFill>
            <a:srgbClr val="F4F7FB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73152" cy="4023360"/>
          </a:xfrm>
          <a:prstGeom prst="rect">
            <a:avLst/>
          </a:prstGeom>
          <a:solidFill>
            <a:srgbClr val="79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81912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91F2A"/>
                </a:solidFill>
              </a:defRPr>
            </a:pPr>
            <a:r>
              <a:t>May be overkill</a:t>
            </a:r>
          </a:p>
          <a:p>
            <a:pPr>
              <a:spcBef>
                <a:spcPts val="600"/>
              </a:spcBef>
              <a:defRPr sz="1150">
                <a:solidFill>
                  <a:srgbClr val="5C697D"/>
                </a:solidFill>
              </a:defRPr>
            </a:pPr>
            <a:r>
              <a:t>• One simple prompt → one model call</a:t>
            </a:r>
            <a:br/>
            <a:r>
              <a:t>• Very small scripts</a:t>
            </a:r>
            <a:br/>
            <a:r>
              <a:t>• Application already has a clean internal orchestration layer</a:t>
            </a:r>
            <a:br/>
            <a:r>
              <a:t>• You need direct access to provider-specific APIs with minimal abstraction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13.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LangChain is an application framework around language models—not the model itself.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Its value is orchestration: prompts, models, retrieval, tools, history/state and structured outputs.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RAG connects models to external knowledge; tools connect models to actions and live systems.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Persistent chat history and vector retrieval solve different problems.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Start simple. Add LangChain components when the application needs orchestration beyond a single model 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578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8CBEFF"/>
                </a:solidFill>
              </a:defRPr>
            </a:pPr>
            <a:r>
              <a:t>Next: build a small LangChain app with Qwen + Ollama + PostgreSQL + pgvector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