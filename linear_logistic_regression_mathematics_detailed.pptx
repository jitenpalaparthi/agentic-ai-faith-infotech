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93C5FD"/>
                </a:solidFill>
                <a:latin typeface="Inter"/>
              </a:defRPr>
            </a:pPr>
            <a:r>
              <a:t>MATHEMATICS →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600" b="1">
                <a:solidFill>
                  <a:srgbClr val="FFFFFF"/>
                </a:solidFill>
                <a:latin typeface="Inter"/>
              </a:defRPr>
            </a:pPr>
            <a:r>
              <a:t>Linear &amp; Logistic Regression — Mathematics from First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97180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CBD5E1"/>
                </a:solidFill>
                <a:latin typeface="Inter"/>
              </a:defRPr>
            </a:pPr>
            <a:r>
              <a:t>A detailed teaching deck: arithmetic, algebra, functions, calculus, probability, derivations, worked examples, optimization, interpretation, and diagnostics.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892040"/>
            <a:ext cx="106070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BFDBFE"/>
                </a:solidFill>
                <a:latin typeface="DejaVu Sans"/>
              </a:defRPr>
            </a:pPr>
            <a:r>
              <a:t>Numbers → Equations → Loss → Optimization → Probability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Learning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Why regression exists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Variables, constants, coordinates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Functions and graphs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Summation notation Σ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Mean, variance, covariance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Vectors and matrices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50876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Derivatives and gradients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Linear regression derivation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Least squares and MSE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Probability, odds, log-odds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Sigmoid and likelihood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Cross-entropy and logistic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1. Start with variables and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FOUNDATIONS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206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2563EB"/>
                </a:solidFill>
                <a:latin typeface="DejaVu Sans"/>
              </a:defRPr>
            </a:pPr>
            <a:r>
              <a:t>y = 2x + 3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Inter"/>
              </a:defRPr>
            </a:pPr>
            <a:r>
              <a:t>• x is the input / independent variable.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Inter"/>
              </a:defRPr>
            </a:pPr>
            <a:r>
              <a:t>• y is the output / dependent variable.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Inter"/>
              </a:defRPr>
            </a:pPr>
            <a:r>
              <a:t>• 2 is the slope: y changes by 2 when x increases by 1.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Inter"/>
              </a:defRPr>
            </a:pPr>
            <a:r>
              <a:t>• 3 is the intercept: predicted y when x = 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508760"/>
            <a:ext cx="4297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0F172A"/>
                </a:solidFill>
                <a:latin typeface="Inter"/>
              </a:defRPr>
            </a:pPr>
            <a:r>
              <a:t>Example</a:t>
            </a:r>
          </a:p>
          <a:p>
            <a:pPr>
              <a:spcAft>
                <a:spcPts val="900"/>
              </a:spcAft>
              <a:defRPr sz="2300" b="1">
                <a:solidFill>
                  <a:srgbClr val="0F172A"/>
                </a:solidFill>
                <a:latin typeface="Inter"/>
              </a:defRPr>
            </a:pPr>
            <a:r>
              <a:t>x=0 → y=3</a:t>
            </a:r>
          </a:p>
          <a:p>
            <a:pPr>
              <a:spcAft>
                <a:spcPts val="900"/>
              </a:spcAft>
              <a:defRPr sz="2300" b="1">
                <a:solidFill>
                  <a:srgbClr val="0F172A"/>
                </a:solidFill>
                <a:latin typeface="Inter"/>
              </a:defRPr>
            </a:pPr>
            <a:r>
              <a:t>x=1 → y=5</a:t>
            </a:r>
          </a:p>
          <a:p>
            <a:pPr>
              <a:spcAft>
                <a:spcPts val="900"/>
              </a:spcAft>
              <a:defRPr sz="2300" b="1">
                <a:solidFill>
                  <a:srgbClr val="0F172A"/>
                </a:solidFill>
                <a:latin typeface="Inter"/>
              </a:defRPr>
            </a:pPr>
            <a:r>
              <a:t>x=2 → y=7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2. Coordinates and a straight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0F172A"/>
                </a:solidFill>
                <a:latin typeface="Inter"/>
              </a:defRPr>
            </a:pPr>
            <a:r>
              <a:t>A data point (x, y) is a coordinate.</a:t>
            </a:r>
          </a:p>
          <a:p>
            <a:pPr>
              <a:spcAft>
                <a:spcPts val="900"/>
              </a:spcAft>
              <a:defRPr sz="2000" b="0">
                <a:solidFill>
                  <a:srgbClr val="0F172A"/>
                </a:solidFill>
                <a:latin typeface="Inter"/>
              </a:defRPr>
            </a:pPr>
          </a:p>
          <a:p>
            <a:pPr>
              <a:spcAft>
                <a:spcPts val="900"/>
              </a:spcAft>
              <a:defRPr sz="2000" b="0">
                <a:solidFill>
                  <a:srgbClr val="0F172A"/>
                </a:solidFill>
                <a:latin typeface="Inter"/>
              </a:defRPr>
            </a:pPr>
            <a:r>
              <a:t>Regression asks: can one mathematical function summarize the relationship among many observed points?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4846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2563EB"/>
                </a:solidFill>
                <a:latin typeface="DejaVu Sans"/>
              </a:defRPr>
            </a:pPr>
            <a:r>
              <a:t>line:  y = mx + c</a:t>
            </a:r>
          </a:p>
        </p:txBody>
      </p:sp>
      <p:pic>
        <p:nvPicPr>
          <p:cNvPr id="7" name="Picture 6" descr="lin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234440"/>
            <a:ext cx="5577840" cy="31375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3. Functions: input → transformation →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FOUNDATIONS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029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2563EB"/>
                </a:solidFill>
                <a:latin typeface="DejaVu Sans"/>
              </a:defRPr>
            </a:pPr>
            <a:r>
              <a:t>f(x) = 2x + 3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029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7C3AED"/>
                </a:solidFill>
                <a:latin typeface="DejaVu Sans"/>
              </a:defRPr>
            </a:pPr>
            <a:r>
              <a:t>f(4) = 2(4) + 3 =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241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A function assigns an output to an input.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Linear regression uses a linear function.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Logistic regression composes a linear function with the sigmoid function.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4. Summation notation 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FOUNDATIONS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607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2563EB"/>
                </a:solidFill>
                <a:latin typeface="DejaVu Sans"/>
              </a:defRPr>
            </a:pPr>
            <a:r>
              <a:t>Σᵢ₌₁ⁿ xᵢ = x₁ + x₂ + ··· + xₙ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0F172A"/>
                </a:solidFill>
                <a:latin typeface="Inter"/>
              </a:defRPr>
            </a:pPr>
            <a:r>
              <a:t>Example: x = [2, 4, 6, 8]</a:t>
            </a:r>
          </a:p>
          <a:p>
            <a:pPr>
              <a:spcAft>
                <a:spcPts val="900"/>
              </a:spcAft>
              <a:defRPr sz="2200" b="0">
                <a:solidFill>
                  <a:srgbClr val="0F172A"/>
                </a:solidFill>
                <a:latin typeface="Inter"/>
              </a:defRPr>
            </a:pPr>
            <a:r>
              <a:t>Σxᵢ = 2+4+6+8 = 20</a:t>
            </a:r>
          </a:p>
          <a:p>
            <a:pPr>
              <a:spcAft>
                <a:spcPts val="900"/>
              </a:spcAft>
              <a:defRPr sz="2200" b="0">
                <a:solidFill>
                  <a:srgbClr val="0F172A"/>
                </a:solidFill>
                <a:latin typeface="Inter"/>
              </a:defRPr>
            </a:pPr>
            <a:r>
              <a:t>Σxᵢ² = 4+16+36+64 = 120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74320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Inter"/>
              </a:defRPr>
            </a:pPr>
            <a:r>
              <a:t>• Σ lets us write dataset-wide calculations compactly.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Inter"/>
              </a:defRPr>
            </a:pPr>
            <a:r>
              <a:t>• Regression loss functions sum errors over all observations.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5. Mean: the center of observed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FOUNDATIONS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070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2563EB"/>
                </a:solidFill>
                <a:latin typeface="DejaVu Sans"/>
              </a:defRPr>
            </a:pPr>
            <a:r>
              <a:t>x̄ = (1/n) Σᵢ₌₁ⁿ xᵢ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0F172A"/>
                </a:solidFill>
                <a:latin typeface="Inter"/>
              </a:defRPr>
            </a:pPr>
            <a:r>
              <a:t>For x = [1,2,3,4,5]:</a:t>
            </a:r>
          </a:p>
          <a:p>
            <a:pPr>
              <a:spcAft>
                <a:spcPts val="900"/>
              </a:spcAft>
              <a:defRPr sz="2200" b="0">
                <a:solidFill>
                  <a:srgbClr val="0F172A"/>
                </a:solidFill>
                <a:latin typeface="Inter"/>
              </a:defRPr>
            </a:pPr>
          </a:p>
          <a:p>
            <a:pPr>
              <a:spcAft>
                <a:spcPts val="900"/>
              </a:spcAft>
              <a:defRPr sz="2200" b="0">
                <a:solidFill>
                  <a:srgbClr val="0F172A"/>
                </a:solidFill>
                <a:latin typeface="Inter"/>
              </a:defRPr>
            </a:pPr>
            <a:r>
              <a:t>x̄ = (1+2+3+4+5)/5 =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78892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7C3AED"/>
                </a:solidFill>
                <a:latin typeface="Inter"/>
              </a:defRPr>
            </a:pPr>
            <a:r>
              <a:t>Why it matters</a:t>
            </a:r>
          </a:p>
          <a:p>
            <a:pPr>
              <a:spcAft>
                <a:spcPts val="900"/>
              </a:spcAft>
              <a:defRPr sz="1900" b="1">
                <a:solidFill>
                  <a:srgbClr val="7C3AED"/>
                </a:solidFill>
                <a:latin typeface="Inter"/>
              </a:defRPr>
            </a:pPr>
            <a:r>
              <a:t>The closed-form slope compares how x and y move away from their means.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6. Variance: how spread out are values?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FOUNDATIONS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607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2563EB"/>
                </a:solidFill>
                <a:latin typeface="DejaVu Sans"/>
              </a:defRPr>
            </a:pPr>
            <a:r>
              <a:t>Var(x) = (1/n) Σ (xᵢ − x̄)²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241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Deviation: xᵢ − x̄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Square it so negative and positive deviations do not cancel.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Average squared deviations to quantify spread.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In sample statistics, 1/(n−1) is commonly used instead of 1/n.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7. Covariance: do x and y move together?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FOUNDATIONS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607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2563EB"/>
                </a:solidFill>
                <a:latin typeface="DejaVu Sans"/>
              </a:defRPr>
            </a:pPr>
            <a:r>
              <a:t>Cov(x,y) = (1/n) Σ (xᵢ−x̄)(yᵢ−ȳ)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Inter"/>
              </a:defRPr>
            </a:pPr>
            <a:r>
              <a:t>• Positive covariance: x↑ tends to accompany y↑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Inter"/>
              </a:defRPr>
            </a:pPr>
            <a:r>
              <a:t>• Negative covariance: x↑ tends to accompany y↓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0876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Inter"/>
              </a:defRPr>
            </a:pPr>
            <a:r>
              <a:t>• Near zero: no strong linear co-movement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Inter"/>
              </a:defRPr>
            </a:pPr>
            <a:r>
              <a:t>• Covariance magnitude depends on units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8. Derivative: instantaneous rate of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CALCULUS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607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2563EB"/>
                </a:solidFill>
                <a:latin typeface="DejaVu Sans"/>
              </a:defRPr>
            </a:pPr>
            <a:r>
              <a:t>f'(x) = limₕ→₀ [f(x+h) − f(x)] / 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0F172A"/>
                </a:solidFill>
                <a:latin typeface="Inter"/>
              </a:defRPr>
            </a:pPr>
            <a:r>
              <a:t>If f(x)=x²:</a:t>
            </a:r>
          </a:p>
          <a:p>
            <a:pPr>
              <a:spcAft>
                <a:spcPts val="900"/>
              </a:spcAft>
              <a:defRPr sz="2100" b="0">
                <a:solidFill>
                  <a:srgbClr val="0F172A"/>
                </a:solidFill>
                <a:latin typeface="Inter"/>
              </a:defRPr>
            </a:pPr>
            <a:r>
              <a:t>(x+h)² = x²+2xh+h²</a:t>
            </a:r>
          </a:p>
          <a:p>
            <a:pPr>
              <a:spcAft>
                <a:spcPts val="900"/>
              </a:spcAft>
              <a:defRPr sz="2100" b="0">
                <a:solidFill>
                  <a:srgbClr val="0F172A"/>
                </a:solidFill>
                <a:latin typeface="Inter"/>
              </a:defRPr>
            </a:pPr>
            <a:r>
              <a:t>[(x+h)²−x²]/h = 2x+h</a:t>
            </a:r>
          </a:p>
          <a:p>
            <a:pPr>
              <a:spcAft>
                <a:spcPts val="900"/>
              </a:spcAft>
              <a:defRPr sz="2100" b="0">
                <a:solidFill>
                  <a:srgbClr val="0F172A"/>
                </a:solidFill>
                <a:latin typeface="Inter"/>
              </a:defRPr>
            </a:pPr>
            <a:r>
              <a:t>h→0 ⇒ f′(x)=2x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4320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Inter"/>
              </a:defRPr>
            </a:pPr>
            <a:r>
              <a:t>• Derivative tells us which direction increases a function.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Inter"/>
              </a:defRPr>
            </a:pPr>
            <a:r>
              <a:t>• For minimizing loss, move in the opposite direction of the derivative.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9. Partial derivatives and the gradient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CALCULUS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607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2563EB"/>
                </a:solidFill>
                <a:latin typeface="DejaVu Sans"/>
              </a:defRPr>
            </a:pPr>
            <a:r>
              <a:t>∇J = [ ∂J/∂θ₀,  ∂J/∂θ₁, …, ∂J/∂θₚ ]ᵀ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241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A model has multiple parameters.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A partial derivative changes one parameter while holding others fixed.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The gradient packages all partial derivatives into one vector.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−∇J points locally downhill.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10. Gradient descent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OPTIMIZATION</a:t>
            </a:r>
          </a:p>
        </p:txBody>
      </p:sp>
      <p:pic>
        <p:nvPicPr>
          <p:cNvPr id="5" name="Picture 4" descr="g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5486400" cy="30861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508760"/>
            <a:ext cx="4754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2563EB"/>
                </a:solidFill>
                <a:latin typeface="DejaVu Sans"/>
              </a:defRPr>
            </a:pPr>
            <a:r>
              <a:t>θ ← θ − α ∇J(θ)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663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Inter"/>
              </a:defRPr>
            </a:pPr>
            <a:r>
              <a:t>• θ: parameter(s)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Inter"/>
              </a:defRPr>
            </a:pPr>
            <a:r>
              <a:t>• α: learning rate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Inter"/>
              </a:defRPr>
            </a:pPr>
            <a:r>
              <a:t>• ∇J: slope of loss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Inter"/>
              </a:defRPr>
            </a:pPr>
            <a:r>
              <a:t>• Repeat until convergence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11. Linear Regression: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LINEAR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607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2563EB"/>
                </a:solidFill>
                <a:latin typeface="DejaVu Sans"/>
              </a:defRPr>
            </a:pPr>
            <a:r>
              <a:t>ŷᵢ = β₀ + β₁xᵢ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Inter"/>
              </a:defRPr>
            </a:pPr>
            <a:r>
              <a:t>• ŷ: model prediction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Inter"/>
              </a:defRPr>
            </a:pPr>
            <a:r>
              <a:t>• β₀: intercept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Inter"/>
              </a:defRPr>
            </a:pPr>
            <a:r>
              <a:t>• β₁: slope / coefficient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0876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Inter"/>
              </a:defRPr>
            </a:pPr>
            <a:r>
              <a:t>• x: feature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Inter"/>
              </a:defRPr>
            </a:pPr>
            <a:r>
              <a:t>• y: observed target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Inter"/>
              </a:defRPr>
            </a:pPr>
            <a:r>
              <a:t>• Residual eᵢ = yᵢ − ŷᵢ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12. What does “best line” mean?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LINEAR</a:t>
            </a:r>
          </a:p>
        </p:txBody>
      </p:sp>
      <p:pic>
        <p:nvPicPr>
          <p:cNvPr id="5" name="Picture 4" descr="lin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5486400" cy="3086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7C3AED"/>
                </a:solidFill>
                <a:latin typeface="Inter"/>
              </a:defRPr>
            </a:pPr>
            <a:r>
              <a:t>For each observation: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11680"/>
            <a:ext cx="4754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2563EB"/>
                </a:solidFill>
                <a:latin typeface="DejaVu Sans"/>
              </a:defRPr>
            </a:pPr>
            <a:r>
              <a:t>eᵢ = yᵢ − ŷᵢ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Inter"/>
              </a:defRPr>
            </a:pPr>
            <a:r>
              <a:t>• Positive residual: point is above the line.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Inter"/>
              </a:defRPr>
            </a:pPr>
            <a:r>
              <a:t>• Negative residual: point is below the line.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Inter"/>
              </a:defRPr>
            </a:pPr>
            <a:r>
              <a:t>• We need one objective measuring all residuals.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13. Why square the errors?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LINEAR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607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2563EB"/>
                </a:solidFill>
                <a:latin typeface="DejaVu Sans"/>
              </a:defRPr>
            </a:pPr>
            <a:r>
              <a:t>SSE = Σ (yᵢ − ŷᵢ)²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241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Errors cannot cancel each other.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Large mistakes receive a larger penalty.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Squared error is differentiable, enabling calculus.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Under Gaussian noise assumptions, minimizing squared error is also maximum likelihood estimation.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14. SSE, MSE, RMSE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LINEAR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607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563EB"/>
                </a:solidFill>
                <a:latin typeface="DejaVu Sans"/>
              </a:defRPr>
            </a:pPr>
            <a:r>
              <a:t>SSE = Σeᵢ²     MSE = (1/n)Σeᵢ²     RMSE = √MSE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Inter"/>
              </a:defRPr>
            </a:pPr>
            <a:r>
              <a:t>• SSE grows with dataset size.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Inter"/>
              </a:defRPr>
            </a:pPr>
            <a:r>
              <a:t>• MSE is average squared error.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0876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Inter"/>
              </a:defRPr>
            </a:pPr>
            <a:r>
              <a:t>• RMSE returns to target units.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Inter"/>
              </a:defRPr>
            </a:pPr>
            <a:r>
              <a:t>• All have the same minimizer for fixed 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15. Deriving the intercept β₀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LINEAR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607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563EB"/>
                </a:solidFill>
                <a:latin typeface="DejaVu Sans"/>
              </a:defRPr>
            </a:pPr>
            <a:r>
              <a:t>S(β₀,β₁)=Σ[yᵢ−(β₀+β₁xᵢ)]²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6583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0F172A"/>
                </a:solidFill>
                <a:latin typeface="Inter"/>
              </a:defRPr>
            </a:pPr>
            <a:r>
              <a:t>Differentiate with respect to β₀ and set to zero:</a:t>
            </a:r>
          </a:p>
          <a:p>
            <a:pPr>
              <a:spcAft>
                <a:spcPts val="900"/>
              </a:spcAft>
              <a:defRPr sz="2000" b="0">
                <a:solidFill>
                  <a:srgbClr val="0F172A"/>
                </a:solidFill>
                <a:latin typeface="Inter"/>
              </a:defRPr>
            </a:pPr>
          </a:p>
          <a:p>
            <a:pPr>
              <a:spcAft>
                <a:spcPts val="900"/>
              </a:spcAft>
              <a:defRPr sz="2000" b="0">
                <a:solidFill>
                  <a:srgbClr val="0F172A"/>
                </a:solidFill>
                <a:latin typeface="Inter"/>
              </a:defRPr>
            </a:pPr>
            <a:r>
              <a:t>∂S/∂β₀ = −2Σ[yᵢ−β₀−β₁xᵢ] = 0</a:t>
            </a:r>
          </a:p>
          <a:p>
            <a:pPr>
              <a:spcAft>
                <a:spcPts val="900"/>
              </a:spcAft>
              <a:defRPr sz="2000" b="0">
                <a:solidFill>
                  <a:srgbClr val="0F172A"/>
                </a:solidFill>
                <a:latin typeface="Inter"/>
              </a:defRPr>
            </a:pPr>
            <a:r>
              <a:t>Σyᵢ = nβ₀ + β₁Σxᵢ</a:t>
            </a:r>
          </a:p>
          <a:p>
            <a:pPr>
              <a:spcAft>
                <a:spcPts val="900"/>
              </a:spcAft>
              <a:defRPr sz="2000" b="0">
                <a:solidFill>
                  <a:srgbClr val="0F172A"/>
                </a:solidFill>
                <a:latin typeface="Inter"/>
              </a:defRPr>
            </a:pPr>
            <a:r>
              <a:t>ȳ = β₀ + β₁x̄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3063240"/>
            <a:ext cx="3474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7C3AED"/>
                </a:solidFill>
                <a:latin typeface="DejaVu Sans"/>
              </a:defRPr>
            </a:pPr>
            <a:r>
              <a:t>β₀ = ȳ − β₁x̄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16. Deriving the slope β₁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LINEAR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7C3AED"/>
                </a:solidFill>
                <a:latin typeface="Inter"/>
              </a:defRPr>
            </a:pPr>
            <a:r>
              <a:t>Differentiate SSE with respect to β₁: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07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563EB"/>
                </a:solidFill>
                <a:latin typeface="DejaVu Sans"/>
              </a:defRPr>
            </a:pPr>
            <a:r>
              <a:t>∂S/∂β₁ = −2Σ xᵢ[yᵢ−β₀−β₁xᵢ] =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0F172A"/>
                </a:solidFill>
                <a:latin typeface="Inter"/>
              </a:defRPr>
            </a:pPr>
            <a:r>
              <a:t>Substitute β₀ = ȳ − β₁x̄ and rearrange. The centered form becomes: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3840480"/>
            <a:ext cx="9235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7C3AED"/>
                </a:solidFill>
                <a:latin typeface="DejaVu Sans"/>
              </a:defRPr>
            </a:pPr>
            <a:r>
              <a:t>β₁ = Σ(xᵢ−x̄)(yᵢ−ȳ) / Σ(xᵢ−x̄)²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17. The slope is covariance divided by variance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LINEAR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07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100" b="1">
                <a:solidFill>
                  <a:srgbClr val="2563EB"/>
                </a:solidFill>
                <a:latin typeface="DejaVu Sans"/>
              </a:defRPr>
            </a:pPr>
            <a:r>
              <a:t>β₁ = Cov(x,y) / Var(x)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241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Numerator: how x and y move together.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Denominator: how much x itself varies.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Therefore β₁ measures target change per unit feature change.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Units of β₁ = units(y) / units(x).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18. Worked linear-regression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LINEAR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0F172A"/>
                </a:solidFill>
                <a:latin typeface="Inter"/>
              </a:defRPr>
            </a:pPr>
            <a:r>
              <a:t>Data: x=[1,2,3,4,5], y=[2,3,5,4,6]</a:t>
            </a:r>
          </a:p>
          <a:p>
            <a:pPr>
              <a:spcAft>
                <a:spcPts val="900"/>
              </a:spcAft>
              <a:defRPr sz="2000" b="0">
                <a:solidFill>
                  <a:srgbClr val="0F172A"/>
                </a:solidFill>
                <a:latin typeface="Inter"/>
              </a:defRPr>
            </a:pPr>
            <a:r>
              <a:t>x̄=3, ȳ=4</a:t>
            </a:r>
          </a:p>
          <a:p>
            <a:pPr>
              <a:spcAft>
                <a:spcPts val="900"/>
              </a:spcAft>
              <a:defRPr sz="2000" b="0">
                <a:solidFill>
                  <a:srgbClr val="0F172A"/>
                </a:solidFill>
                <a:latin typeface="Inter"/>
              </a:defRPr>
            </a:pPr>
            <a:r>
              <a:t>Σ(x−x̄)(y−ȳ)=9</a:t>
            </a:r>
          </a:p>
          <a:p>
            <a:pPr>
              <a:spcAft>
                <a:spcPts val="900"/>
              </a:spcAft>
              <a:defRPr sz="2000" b="0">
                <a:solidFill>
                  <a:srgbClr val="0F172A"/>
                </a:solidFill>
                <a:latin typeface="Inter"/>
              </a:defRPr>
            </a:pPr>
            <a:r>
              <a:t>Σ(x−x̄)²=10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17320"/>
            <a:ext cx="4572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563EB"/>
                </a:solidFill>
                <a:latin typeface="DejaVu Sans"/>
              </a:defRPr>
            </a:pPr>
            <a:r>
              <a:t>β₁ = 9/10 = 0.9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743200"/>
            <a:ext cx="4572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7C3AED"/>
                </a:solidFill>
                <a:latin typeface="DejaVu Sans"/>
              </a:defRPr>
            </a:pPr>
            <a:r>
              <a:t>β₀ = 4 − 0.9(3) = 1.3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4069080"/>
            <a:ext cx="4572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059669"/>
                </a:solidFill>
                <a:latin typeface="DejaVu Sans"/>
              </a:defRPr>
            </a:pPr>
            <a:r>
              <a:t>ŷ = 1.3 + 0.9x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19. Predict and calculate a residual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LINEAR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607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2563EB"/>
                </a:solidFill>
                <a:latin typeface="DejaVu Sans"/>
              </a:defRPr>
            </a:pPr>
            <a:r>
              <a:t>For x=4:  ŷ = 1.3 + 0.9(4) = 4.9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0F172A"/>
                </a:solidFill>
                <a:latin typeface="Inter"/>
              </a:defRPr>
            </a:pPr>
            <a:r>
              <a:t>Observed y = 4</a:t>
            </a:r>
          </a:p>
          <a:p>
            <a:pPr>
              <a:spcAft>
                <a:spcPts val="900"/>
              </a:spcAft>
              <a:defRPr sz="2200" b="0">
                <a:solidFill>
                  <a:srgbClr val="0F172A"/>
                </a:solidFill>
                <a:latin typeface="Inter"/>
              </a:defRPr>
            </a:pPr>
            <a:r>
              <a:t>Predicted ŷ = 4.9</a:t>
            </a:r>
          </a:p>
          <a:p>
            <a:pPr>
              <a:spcAft>
                <a:spcPts val="900"/>
              </a:spcAft>
              <a:defRPr sz="2200" b="0">
                <a:solidFill>
                  <a:srgbClr val="0F172A"/>
                </a:solidFill>
                <a:latin typeface="Inter"/>
              </a:defRPr>
            </a:pPr>
            <a:r>
              <a:t>Residual e = y−ŷ = 4−4.9 = −0.9</a:t>
            </a:r>
          </a:p>
          <a:p>
            <a:pPr>
              <a:spcAft>
                <a:spcPts val="900"/>
              </a:spcAft>
              <a:defRPr sz="2200" b="0">
                <a:solidFill>
                  <a:srgbClr val="0F172A"/>
                </a:solidFill>
                <a:latin typeface="Inter"/>
              </a:defRPr>
            </a:pPr>
            <a:r>
              <a:t>Squared error = 0.81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74320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7C3AED"/>
                </a:solidFill>
                <a:latin typeface="Inter"/>
              </a:defRPr>
            </a:pPr>
            <a:r>
              <a:t>Interpretation</a:t>
            </a:r>
          </a:p>
          <a:p>
            <a:pPr>
              <a:spcAft>
                <a:spcPts val="900"/>
              </a:spcAft>
              <a:defRPr sz="1900" b="1">
                <a:solidFill>
                  <a:srgbClr val="7C3AED"/>
                </a:solidFill>
                <a:latin typeface="Inter"/>
              </a:defRPr>
            </a:pPr>
            <a:r>
              <a:t>The model over-predicted this observation by 0.9 target units.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20. Multiple Linear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LINEAR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607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2563EB"/>
                </a:solidFill>
                <a:latin typeface="DejaVu Sans"/>
              </a:defRPr>
            </a:pPr>
            <a:r>
              <a:t>ŷ = β₀ + β₁x₁ + β₂x₂ + ··· + βₚxₚ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0F172A"/>
                </a:solidFill>
                <a:latin typeface="Inter"/>
              </a:defRPr>
            </a:pPr>
            <a:r>
              <a:t>Example: house price</a:t>
            </a:r>
          </a:p>
          <a:p>
            <a:pPr>
              <a:spcAft>
                <a:spcPts val="900"/>
              </a:spcAft>
              <a:defRPr sz="2100" b="0">
                <a:solidFill>
                  <a:srgbClr val="0F172A"/>
                </a:solidFill>
                <a:latin typeface="Inter"/>
              </a:defRPr>
            </a:pPr>
            <a:r>
              <a:t>ŷ = β₀ + β₁(area) + β₂(bedrooms) + β₃(age)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74320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Inter"/>
              </a:defRPr>
            </a:pPr>
            <a:r>
              <a:t>• Each coefficient is interpreted while holding other included features constant.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Inter"/>
              </a:defRPr>
            </a:pPr>
            <a:r>
              <a:t>• This is a conditional linear association, not automatically a causal effect.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21. Matrix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LINEAR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607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2563EB"/>
                </a:solidFill>
                <a:latin typeface="DejaVu Sans"/>
              </a:defRPr>
            </a:pPr>
            <a:r>
              <a:t>ŷ = Xβ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0F172A"/>
                </a:solidFill>
                <a:latin typeface="Inter"/>
              </a:defRPr>
            </a:pPr>
            <a:r>
              <a:t>X = design matrix (rows=observations, columns=features)</a:t>
            </a:r>
          </a:p>
          <a:p>
            <a:pPr>
              <a:spcAft>
                <a:spcPts val="900"/>
              </a:spcAft>
              <a:defRPr sz="2000" b="0">
                <a:solidFill>
                  <a:srgbClr val="0F172A"/>
                </a:solidFill>
                <a:latin typeface="Inter"/>
              </a:defRPr>
            </a:pPr>
            <a:r>
              <a:t>β = coefficient vector</a:t>
            </a:r>
          </a:p>
          <a:p>
            <a:pPr>
              <a:spcAft>
                <a:spcPts val="900"/>
              </a:spcAft>
              <a:defRPr sz="2000" b="0">
                <a:solidFill>
                  <a:srgbClr val="0F172A"/>
                </a:solidFill>
                <a:latin typeface="Inter"/>
              </a:defRPr>
            </a:pPr>
            <a:r>
              <a:t>y = target vector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651760"/>
            <a:ext cx="47548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7C3AED"/>
                </a:solidFill>
                <a:latin typeface="DejaVu Sans"/>
              </a:defRPr>
            </a:pPr>
            <a:r>
              <a:t>β̂ = (XᵀX)⁻¹Xᵀy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406908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475569"/>
                </a:solidFill>
                <a:latin typeface="Inter"/>
              </a:defRPr>
            </a:pPr>
            <a:r>
              <a:t>Normal equation: closed-form OLS solution when the required inverse exists.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22. Where does the normal equation come from?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LINEAR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607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563EB"/>
                </a:solidFill>
                <a:latin typeface="DejaVu Sans"/>
              </a:defRPr>
            </a:pPr>
            <a:r>
              <a:t>J(β) = (y−Xβ)ᵀ(y−Xβ)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5669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0F172A"/>
                </a:solidFill>
                <a:latin typeface="Inter"/>
              </a:defRPr>
            </a:pPr>
            <a:r>
              <a:t>Expand:</a:t>
            </a:r>
          </a:p>
          <a:p>
            <a:pPr>
              <a:spcAft>
                <a:spcPts val="900"/>
              </a:spcAft>
              <a:defRPr sz="1900" b="0">
                <a:solidFill>
                  <a:srgbClr val="0F172A"/>
                </a:solidFill>
                <a:latin typeface="Inter"/>
              </a:defRPr>
            </a:pPr>
            <a:r>
              <a:t>yᵀy − 2βᵀXᵀy + βᵀXᵀXβ</a:t>
            </a:r>
          </a:p>
          <a:p>
            <a:pPr>
              <a:spcAft>
                <a:spcPts val="900"/>
              </a:spcAft>
              <a:defRPr sz="1900" b="0">
                <a:solidFill>
                  <a:srgbClr val="0F172A"/>
                </a:solidFill>
                <a:latin typeface="Inter"/>
              </a:defRPr>
            </a:pPr>
          </a:p>
          <a:p>
            <a:pPr>
              <a:spcAft>
                <a:spcPts val="900"/>
              </a:spcAft>
              <a:defRPr sz="1900" b="0">
                <a:solidFill>
                  <a:srgbClr val="0F172A"/>
                </a:solidFill>
                <a:latin typeface="Inter"/>
              </a:defRPr>
            </a:pPr>
            <a:r>
              <a:t>Differentiate:</a:t>
            </a:r>
          </a:p>
          <a:p>
            <a:pPr>
              <a:spcAft>
                <a:spcPts val="900"/>
              </a:spcAft>
              <a:defRPr sz="1900" b="0">
                <a:solidFill>
                  <a:srgbClr val="0F172A"/>
                </a:solidFill>
                <a:latin typeface="Inter"/>
              </a:defRPr>
            </a:pPr>
            <a:r>
              <a:t>∇J = −2Xᵀy + 2XᵀXβ</a:t>
            </a:r>
          </a:p>
          <a:p>
            <a:pPr>
              <a:spcAft>
                <a:spcPts val="900"/>
              </a:spcAft>
              <a:defRPr sz="1900" b="0">
                <a:solidFill>
                  <a:srgbClr val="0F172A"/>
                </a:solidFill>
                <a:latin typeface="Inter"/>
              </a:defRPr>
            </a:pPr>
          </a:p>
          <a:p>
            <a:pPr>
              <a:spcAft>
                <a:spcPts val="900"/>
              </a:spcAft>
              <a:defRPr sz="1900" b="0">
                <a:solidFill>
                  <a:srgbClr val="0F172A"/>
                </a:solidFill>
                <a:latin typeface="Inter"/>
              </a:defRPr>
            </a:pPr>
            <a:r>
              <a:t>Set ∇J=0:</a:t>
            </a:r>
          </a:p>
          <a:p>
            <a:pPr>
              <a:spcAft>
                <a:spcPts val="900"/>
              </a:spcAft>
              <a:defRPr sz="1900" b="0">
                <a:solidFill>
                  <a:srgbClr val="0F172A"/>
                </a:solidFill>
                <a:latin typeface="Inter"/>
              </a:defRPr>
            </a:pPr>
            <a:r>
              <a:t>XᵀXβ = Xᵀy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3246120"/>
            <a:ext cx="4023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059669"/>
                </a:solidFill>
                <a:latin typeface="DejaVu Sans"/>
              </a:defRPr>
            </a:pPr>
            <a:r>
              <a:t>β̂=(XᵀX)⁻¹Xᵀy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23. Linear regression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LINEAR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Linearity of conditional mean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Independent observations/errors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No perfect multicollinearity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50876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Constant error variance (for classical inference)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Normally distributed errors mainly for exact small-sample inference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Correct model specification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57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D97706"/>
                </a:solidFill>
                <a:latin typeface="Inter"/>
              </a:defRPr>
            </a:pPr>
            <a:r>
              <a:t>Violations affect prediction and/or statistical inference differently; they do not all “invalidate” the model in the same way.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24. R²: variance explained relative to a mean-only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LINEAR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607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2563EB"/>
                </a:solidFill>
                <a:latin typeface="DejaVu Sans"/>
              </a:defRPr>
            </a:pPr>
            <a:r>
              <a:t>R² = 1 − SSE / SST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0F172A"/>
                </a:solidFill>
                <a:latin typeface="Inter"/>
              </a:defRPr>
            </a:pPr>
            <a:r>
              <a:t>SSE = Σ(yᵢ−ŷᵢ)²</a:t>
            </a:r>
          </a:p>
          <a:p>
            <a:pPr>
              <a:spcAft>
                <a:spcPts val="900"/>
              </a:spcAft>
              <a:defRPr sz="2100" b="0">
                <a:solidFill>
                  <a:srgbClr val="0F172A"/>
                </a:solidFill>
                <a:latin typeface="Inter"/>
              </a:defRPr>
            </a:pPr>
            <a:r>
              <a:t>SST = Σ(yᵢ−ȳ)²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468880"/>
            <a:ext cx="5486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R²=1 means perfect in-sample fit.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R²=0 means no improvement over predicting the sample mean.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R² can be negative on new data or for some model setups.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High R² does not prove causality or good generalization.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25. Why linear regression is unsuitable for binary probability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LOGISTIC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607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2563EB"/>
                </a:solidFill>
                <a:latin typeface="DejaVu Sans"/>
              </a:defRPr>
            </a:pPr>
            <a:r>
              <a:t>Binary target: y ∈ {0,1}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0241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A straight line can predict values below 0 or above 1.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Probability must stay between 0 and 1.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Binary outcomes have non-constant conditional variance p(1−p).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We need a nonlinear mapping from a linear score to probability.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26. Probability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LOGISTIC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607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100" b="1">
                <a:solidFill>
                  <a:srgbClr val="2563EB"/>
                </a:solidFill>
                <a:latin typeface="DejaVu Sans"/>
              </a:defRPr>
            </a:pPr>
            <a:r>
              <a:t>0 ≤ P(A) ≤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Inter"/>
              </a:defRPr>
            </a:pPr>
            <a:r>
              <a:t>• p=0 → impossible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Inter"/>
              </a:defRPr>
            </a:pPr>
            <a:r>
              <a:t>• p=0.5 → even chance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Inter"/>
              </a:defRPr>
            </a:pPr>
            <a:r>
              <a:t>• p=1 → certain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0876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Inter"/>
              </a:defRPr>
            </a:pPr>
            <a:r>
              <a:t>• For binary y: P(y=1)=p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Inter"/>
              </a:defRPr>
            </a:pPr>
            <a:r>
              <a:t>• P(y=0)=1−p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Inter"/>
              </a:defRPr>
            </a:pPr>
            <a:r>
              <a:t>• Expected value E[y]=p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27. Odds: probability expressed as a ratio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LOGISTIC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607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2563EB"/>
                </a:solidFill>
                <a:latin typeface="DejaVu Sans"/>
              </a:defRPr>
            </a:pPr>
            <a:r>
              <a:t>odds = p / (1−p)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0F172A"/>
                </a:solidFill>
                <a:latin typeface="Inter"/>
              </a:defRPr>
            </a:pPr>
            <a:r>
              <a:t>p=0.5 → odds=0.5/0.5=1</a:t>
            </a:r>
          </a:p>
          <a:p>
            <a:pPr>
              <a:spcAft>
                <a:spcPts val="900"/>
              </a:spcAft>
              <a:defRPr sz="2100" b="0">
                <a:solidFill>
                  <a:srgbClr val="0F172A"/>
                </a:solidFill>
                <a:latin typeface="Inter"/>
              </a:defRPr>
            </a:pPr>
            <a:r>
              <a:t>p=0.8 → odds=0.8/0.2=4</a:t>
            </a:r>
          </a:p>
          <a:p>
            <a:pPr>
              <a:spcAft>
                <a:spcPts val="900"/>
              </a:spcAft>
              <a:defRPr sz="2100" b="0">
                <a:solidFill>
                  <a:srgbClr val="0F172A"/>
                </a:solidFill>
                <a:latin typeface="Inter"/>
              </a:defRPr>
            </a:pPr>
            <a:r>
              <a:t>p=0.2 → odds=0.2/0.8=0.25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432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7C3AED"/>
                </a:solidFill>
                <a:latin typeface="Inter"/>
              </a:defRPr>
            </a:pPr>
            <a:r>
              <a:t>Odds of 4 means the event is four times as likely as the non-event in odds terms.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28. Log-odds (logit)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LOGISTIC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607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900" b="1">
                <a:solidFill>
                  <a:srgbClr val="2563EB"/>
                </a:solidFill>
                <a:latin typeface="DejaVu Sans"/>
              </a:defRPr>
            </a:pPr>
            <a:r>
              <a:t>logit(p) = ln[p/(1−p)]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0241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Odds range: 0 to ∞.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Log-odds range: −∞ to +∞.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That matches the unrestricted output range of a linear predictor.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4983480"/>
            <a:ext cx="8503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7C3AED"/>
                </a:solidFill>
                <a:latin typeface="DejaVu Sans"/>
              </a:defRPr>
            </a:pPr>
            <a:r>
              <a:t>ln[p/(1−p)] = β₀ + β₁x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29. Derive the sigmoid from log-odds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LOGISTIC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7C3AED"/>
                </a:solidFill>
                <a:latin typeface="Inter"/>
              </a:defRPr>
            </a:pPr>
            <a:r>
              <a:t>Start: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4754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563EB"/>
                </a:solidFill>
                <a:latin typeface="DejaVu Sans"/>
              </a:defRPr>
            </a:pPr>
            <a:r>
              <a:t>ln[p/(1−p)] =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0F172A"/>
                </a:solidFill>
                <a:latin typeface="Inter"/>
              </a:defRPr>
            </a:pPr>
            <a:r>
              <a:t>Exponentiate both sides:</a:t>
            </a:r>
          </a:p>
          <a:p>
            <a:pPr>
              <a:spcAft>
                <a:spcPts val="900"/>
              </a:spcAft>
              <a:defRPr sz="2000" b="0">
                <a:solidFill>
                  <a:srgbClr val="0F172A"/>
                </a:solidFill>
                <a:latin typeface="Inter"/>
              </a:defRPr>
            </a:pPr>
            <a:r>
              <a:t>p/(1−p)=eᶻ</a:t>
            </a:r>
          </a:p>
          <a:p>
            <a:pPr>
              <a:spcAft>
                <a:spcPts val="900"/>
              </a:spcAft>
              <a:defRPr sz="2000" b="0">
                <a:solidFill>
                  <a:srgbClr val="0F172A"/>
                </a:solidFill>
                <a:latin typeface="Inter"/>
              </a:defRPr>
            </a:pPr>
            <a:r>
              <a:t>p=eᶻ(1−p)</a:t>
            </a:r>
          </a:p>
          <a:p>
            <a:pPr>
              <a:spcAft>
                <a:spcPts val="900"/>
              </a:spcAft>
              <a:defRPr sz="2000" b="0">
                <a:solidFill>
                  <a:srgbClr val="0F172A"/>
                </a:solidFill>
                <a:latin typeface="Inter"/>
              </a:defRPr>
            </a:pPr>
            <a:r>
              <a:t>p=eᶻ−peᶻ</a:t>
            </a:r>
          </a:p>
          <a:p>
            <a:pPr>
              <a:spcAft>
                <a:spcPts val="900"/>
              </a:spcAft>
              <a:defRPr sz="2000" b="0">
                <a:solidFill>
                  <a:srgbClr val="0F172A"/>
                </a:solidFill>
                <a:latin typeface="Inter"/>
              </a:defRPr>
            </a:pPr>
            <a:r>
              <a:t>p(1+eᶻ)=eᶻ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926080"/>
            <a:ext cx="54864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059669"/>
                </a:solidFill>
                <a:latin typeface="DejaVu Sans"/>
              </a:defRPr>
            </a:pPr>
            <a:r>
              <a:t>p = eᶻ/(1+eᶻ) = 1/(1+e⁻ᶻ)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30. Sigmoid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LOGISTIC</a:t>
            </a:r>
          </a:p>
        </p:txBody>
      </p:sp>
      <p:pic>
        <p:nvPicPr>
          <p:cNvPr id="5" name="Picture 4" descr="sigmo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234440"/>
            <a:ext cx="5577840" cy="313753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4754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2563EB"/>
                </a:solidFill>
                <a:latin typeface="DejaVu Sans"/>
              </a:defRPr>
            </a:pPr>
            <a:r>
              <a:t>σ(z) = 1 / (1 + e⁻ᶻ)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Inter"/>
              </a:defRPr>
            </a:pPr>
            <a:r>
              <a:t>• z→−∞ ⇒ σ(z)→0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Inter"/>
              </a:defRPr>
            </a:pPr>
            <a:r>
              <a:t>• z=0 ⇒ σ(z)=0.5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Inter"/>
              </a:defRPr>
            </a:pPr>
            <a:r>
              <a:t>• z→+∞ ⇒ σ(z)→1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31. What does e mean?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LOGISTIC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607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100" b="1">
                <a:solidFill>
                  <a:srgbClr val="2563EB"/>
                </a:solidFill>
                <a:latin typeface="DejaVu Sans"/>
              </a:defRPr>
            </a:pPr>
            <a:r>
              <a:t>e ≈ 2.718281828…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0241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e is the natural exponential base.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eˣ is its own derivative: d(eˣ)/dx = eˣ.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ln(x) is the inverse of eˣ.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This derivative structure makes exponential-family probability models mathematically convenient.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32. Logistic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LOGISTIC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607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2563EB"/>
                </a:solidFill>
                <a:latin typeface="DejaVu Sans"/>
              </a:defRPr>
            </a:pPr>
            <a:r>
              <a:t>pᵢ = P(yᵢ=1|xᵢ) = σ(β₀ + β₁xᵢ)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0F172A"/>
                </a:solidFill>
                <a:latin typeface="Inter"/>
              </a:defRPr>
            </a:pPr>
            <a:r>
              <a:t>Linear score: z = β₀+β₁x</a:t>
            </a:r>
          </a:p>
          <a:p>
            <a:pPr>
              <a:spcAft>
                <a:spcPts val="900"/>
              </a:spcAft>
              <a:defRPr sz="2100" b="0">
                <a:solidFill>
                  <a:srgbClr val="0F172A"/>
                </a:solidFill>
                <a:latin typeface="Inter"/>
              </a:defRPr>
            </a:pPr>
            <a:r>
              <a:t>Probability: p = σ(z)</a:t>
            </a:r>
          </a:p>
          <a:p>
            <a:pPr>
              <a:spcAft>
                <a:spcPts val="900"/>
              </a:spcAft>
              <a:defRPr sz="2100" b="0">
                <a:solidFill>
                  <a:srgbClr val="0F172A"/>
                </a:solidFill>
                <a:latin typeface="Inter"/>
              </a:defRPr>
            </a:pPr>
            <a:r>
              <a:t>Decision (optional): predict class 1 if p ≥ threshold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74320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7C3AED"/>
                </a:solidFill>
                <a:latin typeface="Inter"/>
              </a:defRPr>
            </a:pPr>
            <a:r>
              <a:t>Important</a:t>
            </a:r>
          </a:p>
          <a:p>
            <a:pPr>
              <a:spcAft>
                <a:spcPts val="900"/>
              </a:spcAft>
              <a:defRPr sz="1800" b="1">
                <a:solidFill>
                  <a:srgbClr val="7C3AED"/>
                </a:solidFill>
                <a:latin typeface="Inter"/>
              </a:defRPr>
            </a:pPr>
            <a:r>
              <a:t>The model itself estimates a probability. The classification threshold is a separate decision rule.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33. A numerical sigmoid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LOGISTIC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607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2563EB"/>
                </a:solidFill>
                <a:latin typeface="DejaVu Sans"/>
              </a:defRPr>
            </a:pPr>
            <a:r>
              <a:t>z = −1 + 0.8(3) = 1.4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0F172A"/>
                </a:solidFill>
                <a:latin typeface="Inter"/>
              </a:defRPr>
            </a:pPr>
            <a:r>
              <a:t>p = 1/(1+e⁻¹·⁴)</a:t>
            </a:r>
          </a:p>
          <a:p>
            <a:pPr>
              <a:spcAft>
                <a:spcPts val="900"/>
              </a:spcAft>
              <a:defRPr sz="2200" b="0">
                <a:solidFill>
                  <a:srgbClr val="0F172A"/>
                </a:solidFill>
                <a:latin typeface="Inter"/>
              </a:defRPr>
            </a:pPr>
            <a:r>
              <a:t>e⁻¹·⁴ ≈ 0.2466</a:t>
            </a:r>
          </a:p>
          <a:p>
            <a:pPr>
              <a:spcAft>
                <a:spcPts val="900"/>
              </a:spcAft>
              <a:defRPr sz="2200" b="0">
                <a:solidFill>
                  <a:srgbClr val="0F172A"/>
                </a:solidFill>
                <a:latin typeface="Inter"/>
              </a:defRPr>
            </a:pPr>
            <a:r>
              <a:t>p ≈ 1/1.2466</a:t>
            </a:r>
          </a:p>
          <a:p>
            <a:pPr>
              <a:spcAft>
                <a:spcPts val="900"/>
              </a:spcAft>
              <a:defRPr sz="2200" b="0">
                <a:solidFill>
                  <a:srgbClr val="0F172A"/>
                </a:solidFill>
                <a:latin typeface="Inter"/>
              </a:defRPr>
            </a:pPr>
            <a:r>
              <a:t>p ≈ 0.802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432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59669"/>
                </a:solidFill>
                <a:latin typeface="Inter"/>
              </a:defRPr>
            </a:pPr>
            <a:r>
              <a:t>Interpretation</a:t>
            </a:r>
          </a:p>
          <a:p>
            <a:pPr>
              <a:spcAft>
                <a:spcPts val="900"/>
              </a:spcAft>
              <a:defRPr sz="1900" b="1">
                <a:solidFill>
                  <a:srgbClr val="059669"/>
                </a:solidFill>
                <a:latin typeface="Inter"/>
              </a:defRPr>
            </a:pPr>
            <a:r>
              <a:t>For x=3, the model assigns about an 80.2% probability to y=1.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34. Bernoulli probability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LOGISTIC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607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900" b="1">
                <a:solidFill>
                  <a:srgbClr val="2563EB"/>
                </a:solidFill>
                <a:latin typeface="DejaVu Sans"/>
              </a:defRPr>
            </a:pPr>
            <a:r>
              <a:t>P(y|p) = pʸ(1−p)¹⁻ʸ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Inter"/>
              </a:defRPr>
            </a:pPr>
            <a:r>
              <a:t>• If y=1: p¹(1−p)⁰ = p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Inter"/>
              </a:defRPr>
            </a:pPr>
            <a:r>
              <a:t>• Correct positive predictions should have p near 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0876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Inter"/>
              </a:defRPr>
            </a:pPr>
            <a:r>
              <a:t>• If y=0: p⁰(1−p)¹ = 1−p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Inter"/>
              </a:defRPr>
            </a:pPr>
            <a:r>
              <a:t>• Correct negative predictions should have p near 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35. Likelihood over the whole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LOGISTIC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607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2563EB"/>
                </a:solidFill>
                <a:latin typeface="DejaVu Sans"/>
              </a:defRPr>
            </a:pPr>
            <a:r>
              <a:t>L(β) = Πᵢ pᵢʸⁱ (1−pᵢ)¹⁻ʸⁱ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0241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Assuming observations are conditionally independent, multiply their probabilities.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Choose β that makes the observed labels collectively most probable.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Products of many probabilities become numerically tiny, so we take logs.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36. Log-likelihood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LOGISTIC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607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563EB"/>
                </a:solidFill>
                <a:latin typeface="DejaVu Sans"/>
              </a:defRPr>
            </a:pPr>
            <a:r>
              <a:t>ℓ(β) = Σ [ yᵢ ln(pᵢ) + (1−yᵢ) ln(1−pᵢ)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0241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log converts products into sums.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ln is monotonic: maximizing L is equivalent to maximizing ln L.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Optimization libraries commonly minimize, so negate log-likelihood.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37. Binary cross-entropy / log 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LOGISTIC</a:t>
            </a:r>
          </a:p>
        </p:txBody>
      </p:sp>
      <p:pic>
        <p:nvPicPr>
          <p:cNvPr id="5" name="Picture 4" descr="b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5486400" cy="30861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17320"/>
            <a:ext cx="4754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563EB"/>
                </a:solidFill>
                <a:latin typeface="DejaVu Sans"/>
              </a:defRPr>
            </a:pPr>
            <a:r>
              <a:t>J = −(1/n)Σ[y ln p + (1−y)ln(1−p)]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Confident correct prediction → small loss.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Confident wrong prediction → very large loss.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This is negative average Bernoulli log-likelihood.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38. Why not MSE for logistic regression?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LOGISTIC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MSE can be used mathematically, but it is not the canonical likelihood-based objective for Bernoulli outcomes.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With sigmoid, MSE can produce less convenient optimization geometry.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50876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Cross-entropy follows directly from Bernoulli maximum likelihood.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Its gradient simplifies elegantly to prediction error times feature.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39. Sigmoid derivative —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LOGISTIC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106070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563EB"/>
                </a:solidFill>
                <a:latin typeface="DejaVu Sans"/>
              </a:defRPr>
            </a:pPr>
            <a:r>
              <a:t>σ(z) = (1+e⁻ᶻ)⁻¹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6583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0F172A"/>
                </a:solidFill>
                <a:latin typeface="Inter"/>
              </a:defRPr>
            </a:pPr>
            <a:r>
              <a:t>dσ/dz = −(1+e⁻ᶻ)⁻² · (−e⁻ᶻ)</a:t>
            </a:r>
          </a:p>
          <a:p>
            <a:pPr>
              <a:spcAft>
                <a:spcPts val="900"/>
              </a:spcAft>
              <a:defRPr sz="1900" b="0">
                <a:solidFill>
                  <a:srgbClr val="0F172A"/>
                </a:solidFill>
                <a:latin typeface="Inter"/>
              </a:defRPr>
            </a:pPr>
            <a:r>
              <a:t>       = e⁻ᶻ/(1+e⁻ᶻ)²</a:t>
            </a:r>
          </a:p>
          <a:p>
            <a:pPr>
              <a:spcAft>
                <a:spcPts val="900"/>
              </a:spcAft>
              <a:defRPr sz="1900" b="0">
                <a:solidFill>
                  <a:srgbClr val="0F172A"/>
                </a:solidFill>
                <a:latin typeface="Inter"/>
              </a:defRPr>
            </a:pPr>
          </a:p>
          <a:p>
            <a:pPr>
              <a:spcAft>
                <a:spcPts val="900"/>
              </a:spcAft>
              <a:defRPr sz="1900" b="0">
                <a:solidFill>
                  <a:srgbClr val="0F172A"/>
                </a:solidFill>
                <a:latin typeface="Inter"/>
              </a:defRPr>
            </a:pPr>
            <a:r>
              <a:t>σ(z)[1−σ(z)]</a:t>
            </a:r>
          </a:p>
          <a:p>
            <a:pPr>
              <a:spcAft>
                <a:spcPts val="900"/>
              </a:spcAft>
              <a:defRPr sz="1900" b="0">
                <a:solidFill>
                  <a:srgbClr val="0F172A"/>
                </a:solidFill>
                <a:latin typeface="Inter"/>
              </a:defRPr>
            </a:pPr>
            <a:r>
              <a:t>= 1/(1+e⁻ᶻ) · e⁻ᶻ/(1+e⁻ᶻ)</a:t>
            </a:r>
          </a:p>
          <a:p>
            <a:pPr>
              <a:spcAft>
                <a:spcPts val="900"/>
              </a:spcAft>
              <a:defRPr sz="1900" b="0">
                <a:solidFill>
                  <a:srgbClr val="0F172A"/>
                </a:solidFill>
                <a:latin typeface="Inter"/>
              </a:defRPr>
            </a:pPr>
            <a:r>
              <a:t>= e⁻ᶻ/(1+e⁻ᶻ)²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3200400"/>
            <a:ext cx="3749039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59669"/>
                </a:solidFill>
                <a:latin typeface="DejaVu Sans"/>
              </a:defRPr>
            </a:pPr>
            <a:r>
              <a:t>σ′(z)=σ(z)[1−σ(z)]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40. Gradient of logistic 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LOGISTIC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607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2563EB"/>
                </a:solidFill>
                <a:latin typeface="DejaVu Sans"/>
              </a:defRPr>
            </a:pPr>
            <a:r>
              <a:t>∇J(β) = (1/n) Xᵀ(p − 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0241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p is the vector of predicted probabilities.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p−y is the prediction error in probability space.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Xᵀ aggregates feature-weighted errors.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Gradient descent: β ← β − α(1/n)Xᵀ(p−y).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41. Coefficient interpretation: odds ratios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LOGISTIC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106070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2563EB"/>
                </a:solidFill>
                <a:latin typeface="DejaVu Sans"/>
              </a:defRPr>
            </a:pPr>
            <a:r>
              <a:t>log-odds = β₀ + β₁x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10607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7C3AED"/>
                </a:solidFill>
                <a:latin typeface="DejaVu Sans"/>
              </a:defRPr>
            </a:pPr>
            <a:r>
              <a:t>odds(x+1) / odds(x) = eᵝ¹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0F172A"/>
                </a:solidFill>
                <a:latin typeface="Inter"/>
              </a:defRPr>
            </a:pPr>
            <a:r>
              <a:t>If β₁ = 0.7:</a:t>
            </a:r>
          </a:p>
          <a:p>
            <a:pPr>
              <a:spcAft>
                <a:spcPts val="900"/>
              </a:spcAft>
              <a:defRPr sz="2000" b="0">
                <a:solidFill>
                  <a:srgbClr val="0F172A"/>
                </a:solidFill>
                <a:latin typeface="Inter"/>
              </a:defRPr>
            </a:pPr>
            <a:r>
              <a:t>e⁰·⁷ ≈ 2.01</a:t>
            </a:r>
          </a:p>
          <a:p>
            <a:pPr>
              <a:spcAft>
                <a:spcPts val="900"/>
              </a:spcAft>
              <a:defRPr sz="2000" b="0">
                <a:solidFill>
                  <a:srgbClr val="0F172A"/>
                </a:solidFill>
                <a:latin typeface="Inter"/>
              </a:defRPr>
            </a:pPr>
            <a:r>
              <a:t>A one-unit increase in x multiplies the odds by about 2.01, holding other model features fixed.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42. Probability change is not constant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LOGISTIC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241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In linear regression, β₁ is a constant change in predicted y per unit x.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In logistic regression, β₁ is a constant change in log-odds per unit x.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Inter"/>
              </a:defRPr>
            </a:pPr>
            <a:r>
              <a:t>• The probability change depends on the current probability because sigmoid is nonlinear.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297680"/>
            <a:ext cx="9418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900" b="1">
                <a:solidFill>
                  <a:srgbClr val="059669"/>
                </a:solidFill>
                <a:latin typeface="DejaVu Sans"/>
              </a:defRPr>
            </a:pPr>
            <a:r>
              <a:t>∂p/∂xⱼ = βⱼ · p(1−p)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43. Classification threshold and confusion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LOGISTIC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607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2563EB"/>
                </a:solidFill>
                <a:latin typeface="DejaVu Sans"/>
              </a:defRPr>
            </a:pPr>
            <a:r>
              <a:t>ŷclass = 1 if p ≥ t, otherwise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Inter"/>
              </a:defRPr>
            </a:pPr>
            <a:r>
              <a:t>• TP: predicted 1, actual 1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Inter"/>
              </a:defRPr>
            </a:pPr>
            <a:r>
              <a:t>• FP: predicted 1, actual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0876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Inter"/>
              </a:defRPr>
            </a:pPr>
            <a:r>
              <a:t>• TN: predicted 0, actual 0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Inter"/>
              </a:defRPr>
            </a:pPr>
            <a:r>
              <a:t>• FN: predicted 0, actual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035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D97706"/>
                </a:solidFill>
                <a:latin typeface="Inter"/>
              </a:defRPr>
            </a:pPr>
            <a:r>
              <a:t>Threshold t is a decision parameter; 0.5 is common but not universally optimal.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44. Precision, recall, specificity,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LOGISTIC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607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563EB"/>
                </a:solidFill>
                <a:latin typeface="DejaVu Sans"/>
              </a:defRPr>
            </a:pPr>
            <a:r>
              <a:t>Precision=TP/(TP+FP)   Recall=TP/(TP+FN)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10607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7C3AED"/>
                </a:solidFill>
                <a:latin typeface="DejaVu Sans"/>
              </a:defRPr>
            </a:pPr>
            <a:r>
              <a:t>Specificity=TN/(TN+FP)   Accuracy=(TP+TN)/N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69080"/>
            <a:ext cx="10241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Inter"/>
              </a:defRPr>
            </a:pPr>
            <a:r>
              <a:t>• Metric choice depends on the cost of false positives and false negatives.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Inter"/>
              </a:defRPr>
            </a:pPr>
            <a:r>
              <a:t>• For imbalanced data, accuracy alone can be misleading.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45. Regularization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BOTH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607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563EB"/>
                </a:solidFill>
                <a:latin typeface="DejaVu Sans"/>
              </a:defRPr>
            </a:pPr>
            <a:r>
              <a:t>L2:  Jregularized = J + λ Σ βⱼ²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10607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7C3AED"/>
                </a:solidFill>
                <a:latin typeface="DejaVu Sans"/>
              </a:defRPr>
            </a:pPr>
            <a:r>
              <a:t>L1:  Jregularized = J + λ Σ |βⱼ|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86200"/>
            <a:ext cx="10241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λ controls the strength of the penalty.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L2 shrinks coefficients smoothly.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L1 can drive some coefficients exactly to zero.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Feature scaling matters when penalties compare coefficient magnitudes.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46. Linear vs Logistic Regression — mathematical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7C3AED"/>
                </a:solidFill>
                <a:latin typeface="Inter"/>
              </a:defRPr>
            </a:pPr>
            <a:r>
              <a:t>LINEAR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7C3AED"/>
                </a:solidFill>
                <a:latin typeface="Inter"/>
              </a:defRPr>
            </a:pPr>
            <a:r>
              <a:t>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Target: continuous y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Model: ŷ=Xβ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Objective: squared error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Closed-form OLS may exist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Coefficient: change in predicted 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50876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Target: binary y∈{0,1}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Model: p=σ(Xβ)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Objective: negative log-likelihood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Usually iterative optimization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Coefficient: change in log-odds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47. One mental model for both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07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563EB"/>
                </a:solidFill>
                <a:latin typeface="DejaVu Sans"/>
              </a:defRPr>
            </a:pPr>
            <a:r>
              <a:t>features x → linear score z=Xβ → output mapping → loss → optimize 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Inter"/>
              </a:defRPr>
            </a:pPr>
            <a:r>
              <a:t>• Linear: output mapping is identity.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Inter"/>
              </a:defRPr>
            </a:pPr>
            <a:r>
              <a:t>• Prediction can be any real value.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Inter"/>
              </a:defRPr>
            </a:pPr>
            <a:r>
              <a:t>• Loss commonly squared error.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0876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Inter"/>
              </a:defRPr>
            </a:pPr>
            <a:r>
              <a:t>• Logistic: output mapping is sigmoid.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Inter"/>
              </a:defRPr>
            </a:pPr>
            <a:r>
              <a:t>• Prediction is probability in (0,1).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Inter"/>
              </a:defRPr>
            </a:pPr>
            <a:r>
              <a:t>• Loss is Bernoulli cross-entropy.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48. End-to-end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Understand variables and functions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Compute mean/variance/covariance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Understand derivatives and gradients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Derive OLS slope/intercept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Use matrix notation for many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50876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Understand probability and odds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Transform odds with logarithm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Derive sigmoid from log-odds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Derive cross-entropy from likelihood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Inter"/>
              </a:defRPr>
            </a:pPr>
            <a:r>
              <a:t>• Optimize and interpret coefficients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49. Practice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332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Inter"/>
              </a:defRPr>
            </a:pPr>
            <a:r>
              <a:t>• Fit a line manually to x=[1,2,3], y=[2,4,5]: compute x̄, ȳ, β₁, β₀.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Inter"/>
              </a:defRPr>
            </a:pPr>
            <a:r>
              <a:t>• For ŷ=1+2x, compute residuals and MSE for three observations.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Inter"/>
              </a:defRPr>
            </a:pPr>
            <a:r>
              <a:t>• Convert p=0.75 to odds and log-odds.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Inter"/>
              </a:defRPr>
            </a:pPr>
            <a:r>
              <a:t>• Evaluate σ(z) for z=−2, 0, 2.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Inter"/>
              </a:defRPr>
            </a:pPr>
            <a:r>
              <a:t>• For y=1 and p=0.9 vs p=0.1, compare log loss.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Inter"/>
              </a:defRPr>
            </a:pPr>
            <a:r>
              <a:t>• If logistic β₁=0.4, compute the odds ratio e⁰·⁴.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50. Key equations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C3AED"/>
                </a:solidFill>
                <a:latin typeface="Inter"/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7C3AED"/>
                </a:solidFill>
                <a:latin typeface="Inter"/>
              </a:defRPr>
            </a:pPr>
            <a:r>
              <a:t>Linear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48463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563EB"/>
                </a:solidFill>
                <a:latin typeface="DejaVu Sans"/>
              </a:defRPr>
            </a:pPr>
            <a:r>
              <a:t>ŷ=β₀+β₁x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60320"/>
            <a:ext cx="4846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563EB"/>
                </a:solidFill>
                <a:latin typeface="DejaVu Sans"/>
              </a:defRPr>
            </a:pPr>
            <a:r>
              <a:t>β₁=Σ(x−x̄)(y−ȳ)/Σ(x−x̄)²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611880"/>
            <a:ext cx="48463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563EB"/>
                </a:solidFill>
                <a:latin typeface="DejaVu Sans"/>
              </a:defRPr>
            </a:pPr>
            <a:r>
              <a:t>β₀=ȳ−β₁x̄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7C3AED"/>
                </a:solidFill>
                <a:latin typeface="Inter"/>
              </a:defRPr>
            </a:pPr>
            <a:r>
              <a:t>Logistic Regression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00200"/>
            <a:ext cx="48463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7C3AED"/>
                </a:solidFill>
                <a:latin typeface="DejaVu Sans"/>
              </a:defRPr>
            </a:pPr>
            <a:r>
              <a:t>p=1/(1+e⁻ᶻ), z=Xβ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560320"/>
            <a:ext cx="4846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7C3AED"/>
                </a:solidFill>
                <a:latin typeface="DejaVu Sans"/>
              </a:defRPr>
            </a:pPr>
            <a:r>
              <a:t>J=−(1/n)Σ[ylnp+(1−y)ln(1−p)]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611880"/>
            <a:ext cx="48463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C3AED"/>
                </a:solidFill>
                <a:latin typeface="DejaVu Sans"/>
              </a:defRPr>
            </a:pPr>
            <a:r>
              <a:t>∇J=(1/n)Xᵀ(p−y)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663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59669"/>
                </a:solidFill>
                <a:latin typeface="Inter"/>
              </a:defRPr>
            </a:pPr>
            <a:r>
              <a:t>Understand the derivation; then the formulas become easy to remember.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52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