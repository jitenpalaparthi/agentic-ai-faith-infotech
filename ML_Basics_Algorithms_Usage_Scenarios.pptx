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Machine Learning Basics</a:t>
            </a:r>
          </a:p>
          <a:p>
            <a:pPr>
              <a:defRPr sz="2000">
                <a:solidFill>
                  <a:srgbClr val="CDDCF5"/>
                </a:solidFill>
              </a:defRPr>
            </a:pPr>
            <a:r>
              <a:t>Types of ML • Essential Algorithms • Usage • Real-World Scenarios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160520"/>
            <a:ext cx="2468880" cy="749808"/>
          </a:xfrm>
          <a:prstGeom prst="roundRect">
            <a:avLst/>
          </a:prstGeom>
          <a:solidFill>
            <a:srgbClr val="2D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DATA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520440" y="4389120"/>
            <a:ext cx="411480" cy="292608"/>
          </a:xfrm>
          <a:prstGeom prst="rightArrow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0" y="4160520"/>
            <a:ext cx="2468880" cy="749808"/>
          </a:xfrm>
          <a:prstGeom prst="roundRect">
            <a:avLst/>
          </a:prstGeom>
          <a:solidFill>
            <a:srgbClr val="7451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LEARN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720840" y="4389120"/>
            <a:ext cx="411480" cy="292608"/>
          </a:xfrm>
          <a:prstGeom prst="rightArrow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0" y="4160520"/>
            <a:ext cx="2468880" cy="749808"/>
          </a:xfrm>
          <a:prstGeom prst="roundRect">
            <a:avLst/>
          </a:prstGeom>
          <a:solidFill>
            <a:srgbClr val="2E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PREDICT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40"/>
                </a:solidFill>
              </a:defRPr>
            </a:pPr>
            <a:r>
              <a:t>1. What is Machine Learning?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6C78"/>
                </a:solidFill>
              </a:defRPr>
            </a:pPr>
            <a:r>
              <a:t>Algorithms learn patterns from examples and use those patterns on new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37360"/>
            <a:ext cx="2057400" cy="777240"/>
          </a:xfrm>
          <a:prstGeom prst="roundRect">
            <a:avLst/>
          </a:prstGeom>
          <a:solidFill>
            <a:srgbClr val="2D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Historical Data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88920" y="1984248"/>
            <a:ext cx="502920" cy="292608"/>
          </a:xfrm>
          <a:prstGeom prst="rightArrow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520440" y="1737360"/>
            <a:ext cx="2057400" cy="777240"/>
          </a:xfrm>
          <a:prstGeom prst="roundRect">
            <a:avLst/>
          </a:prstGeom>
          <a:solidFill>
            <a:srgbClr val="7451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ML Algorithm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623560" y="1984248"/>
            <a:ext cx="502920" cy="292608"/>
          </a:xfrm>
          <a:prstGeom prst="rightArrow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737360"/>
            <a:ext cx="2057400" cy="777240"/>
          </a:xfrm>
          <a:prstGeom prst="roundRect">
            <a:avLst/>
          </a:prstGeom>
          <a:solidFill>
            <a:srgbClr val="E18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Learned Model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458200" y="1984248"/>
            <a:ext cx="502920" cy="292608"/>
          </a:xfrm>
          <a:prstGeom prst="rightArrow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89720" y="1737360"/>
            <a:ext cx="2057400" cy="777240"/>
          </a:xfrm>
          <a:prstGeom prst="roundRect">
            <a:avLst/>
          </a:prstGeom>
          <a:solidFill>
            <a:srgbClr val="2E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Prediction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5468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154680"/>
            <a:ext cx="73152" cy="2148840"/>
          </a:xfrm>
          <a:prstGeom prst="rect">
            <a:avLst/>
          </a:prstGeom>
          <a:solidFill>
            <a:srgbClr val="2D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3291840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8C4"/>
                </a:solidFill>
              </a:defRPr>
            </a:pPr>
            <a: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776472"/>
            <a:ext cx="3044952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Past house data → learn relationship.</a:t>
            </a:r>
          </a:p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New house → predict its price.</a:t>
            </a:r>
          </a:p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The learned relationship is the model.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15468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3154680"/>
            <a:ext cx="73152" cy="2148840"/>
          </a:xfrm>
          <a:prstGeom prst="rect">
            <a:avLst/>
          </a:prstGeom>
          <a:solidFill>
            <a:srgbClr val="7451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3291840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7451A9"/>
                </a:solidFill>
              </a:defRPr>
            </a:pPr>
            <a:r>
              <a:t>Common Outputs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3776472"/>
            <a:ext cx="3044952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Number: ₹52 lakh</a:t>
            </a:r>
          </a:p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Category: Spam / Not Spam</a:t>
            </a:r>
          </a:p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Group: Customer Segment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15468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3154680"/>
            <a:ext cx="73152" cy="2148840"/>
          </a:xfrm>
          <a:prstGeom prst="rect">
            <a:avLst/>
          </a:prstGeom>
          <a:solidFill>
            <a:srgbClr val="2E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2" y="3291840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E7D60"/>
                </a:solidFill>
              </a:defRPr>
            </a:pPr>
            <a:r>
              <a:t>Two Phases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2" y="3776472"/>
            <a:ext cx="3044952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Training: learn from historical data.</a:t>
            </a:r>
          </a:p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Inference: use the trained model.</a:t>
            </a:r>
          </a:p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Evaluation: measure how well it generalizes.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0" y="655624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40"/>
                </a:solidFill>
              </a:defRPr>
            </a:pPr>
            <a:r>
              <a:t>2. Major Types of Machine Learning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73152" cy="4389120"/>
          </a:xfrm>
          <a:prstGeom prst="rect">
            <a:avLst/>
          </a:prstGeom>
          <a:solidFill>
            <a:srgbClr val="2D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463039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8C4"/>
                </a:solidFill>
              </a:defRPr>
            </a:pPr>
            <a:r>
              <a:t>Supervised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947672"/>
            <a:ext cx="3090672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Data contains known answers called labels.</a:t>
            </a:r>
          </a:p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Learn mapping: features (X) → target (Y).</a:t>
            </a:r>
          </a:p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Tasks: classification and regression.</a:t>
            </a:r>
          </a:p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Scenario: historical emails labeled spam/not spam.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325880"/>
            <a:ext cx="73152" cy="4389120"/>
          </a:xfrm>
          <a:prstGeom prst="rect">
            <a:avLst/>
          </a:prstGeom>
          <a:solidFill>
            <a:srgbClr val="7451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463039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7451A9"/>
                </a:solidFill>
              </a:defRPr>
            </a:pPr>
            <a:r>
              <a:t>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947672"/>
            <a:ext cx="3090672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No target label is supplied.</a:t>
            </a:r>
          </a:p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Discover structure, similarity or compact representations.</a:t>
            </a:r>
          </a:p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Tasks: clustering, dimensionality reduction.</a:t>
            </a:r>
          </a:p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Scenario: discover customer segments from behavior.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2588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325880"/>
            <a:ext cx="73152" cy="4389120"/>
          </a:xfrm>
          <a:prstGeom prst="rect">
            <a:avLst/>
          </a:prstGeom>
          <a:solidFill>
            <a:srgbClr val="2E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2" y="1463039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E7D60"/>
                </a:solidFill>
              </a:defRPr>
            </a:pPr>
            <a:r>
              <a:t>Reinforcement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2" y="1947672"/>
            <a:ext cx="3090672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An agent takes actions in an environment.</a:t>
            </a:r>
          </a:p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It receives rewards or penalties.</a:t>
            </a:r>
          </a:p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Learns a policy for long-term reward.</a:t>
            </a:r>
          </a:p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Scenario: robot learns efficient navigation.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0" y="655624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40"/>
                </a:solidFill>
              </a:defRPr>
            </a:pPr>
            <a:r>
              <a:t>3. Supervised Learning: Classification vs Regression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3152" cy="4434840"/>
          </a:xfrm>
          <a:prstGeom prst="rect">
            <a:avLst/>
          </a:prstGeom>
          <a:solidFill>
            <a:srgbClr val="2D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508760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8C4"/>
                </a:solidFill>
              </a:defRPr>
            </a:pPr>
            <a:r>
              <a:t>Classification — Predict a Category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1993392"/>
            <a:ext cx="4828032" cy="3685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Output is discrete/categorical.</a:t>
            </a:r>
          </a:p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Examples: Fraud/Genuine, Churn/Stay, Disease +/−.</a:t>
            </a:r>
          </a:p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Algorithms: Logistic Regression, Decision Tree, Random Forest, KNN, SVM.</a:t>
            </a:r>
          </a:p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Business question: Which class does this observation belong to?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73152" cy="4434840"/>
          </a:xfrm>
          <a:prstGeom prst="rect">
            <a:avLst/>
          </a:prstGeom>
          <a:solidFill>
            <a:srgbClr val="E18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508760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18434"/>
                </a:solidFill>
              </a:defRPr>
            </a:pPr>
            <a:r>
              <a:t>Regression — Predict a 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1993392"/>
            <a:ext cx="4828032" cy="3685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Output is continuous/numeric.</a:t>
            </a:r>
          </a:p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Examples: price, sales, demand, delivery time.</a:t>
            </a:r>
          </a:p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Algorithms: Linear Regression, Tree Regression, Random Forest Regression.</a:t>
            </a:r>
          </a:p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Business question: How much / how many / how long?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0" y="655624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40"/>
                </a:solidFill>
              </a:defRPr>
            </a:pPr>
            <a:r>
              <a:t>4. Linear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6C78"/>
                </a:solidFill>
              </a:defRPr>
            </a:pPr>
            <a:r>
              <a:t>A simple, interpretable starting point for predicting numeric values.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5257800"/>
            <a:ext cx="4297680" cy="0"/>
          </a:xfrm>
          <a:prstGeom prst="line">
            <a:avLst/>
          </a:prstGeom>
          <a:ln w="25400">
            <a:solidFill>
              <a:srgbClr val="262D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914400" y="1645920"/>
            <a:ext cx="0" cy="3611880"/>
          </a:xfrm>
          <a:prstGeom prst="line">
            <a:avLst/>
          </a:prstGeom>
          <a:ln w="25400">
            <a:solidFill>
              <a:srgbClr val="262D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371600" y="4663440"/>
            <a:ext cx="128016" cy="128016"/>
          </a:xfrm>
          <a:prstGeom prst="ellipse">
            <a:avLst/>
          </a:prstGeom>
          <a:solidFill>
            <a:srgbClr val="2D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4389120"/>
            <a:ext cx="128016" cy="128016"/>
          </a:xfrm>
          <a:prstGeom prst="ellipse">
            <a:avLst/>
          </a:prstGeom>
          <a:solidFill>
            <a:srgbClr val="2D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468880" y="3977639"/>
            <a:ext cx="128016" cy="128016"/>
          </a:xfrm>
          <a:prstGeom prst="ellipse">
            <a:avLst/>
          </a:prstGeom>
          <a:solidFill>
            <a:srgbClr val="2D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017520" y="3703320"/>
            <a:ext cx="128016" cy="128016"/>
          </a:xfrm>
          <a:prstGeom prst="ellipse">
            <a:avLst/>
          </a:prstGeom>
          <a:solidFill>
            <a:srgbClr val="2D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57600" y="3154680"/>
            <a:ext cx="128016" cy="128016"/>
          </a:xfrm>
          <a:prstGeom prst="ellipse">
            <a:avLst/>
          </a:prstGeom>
          <a:solidFill>
            <a:srgbClr val="2D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97680" y="2743200"/>
            <a:ext cx="128016" cy="128016"/>
          </a:xfrm>
          <a:prstGeom prst="ellipse">
            <a:avLst/>
          </a:prstGeom>
          <a:solidFill>
            <a:srgbClr val="2D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92040" y="2331720"/>
            <a:ext cx="128016" cy="128016"/>
          </a:xfrm>
          <a:prstGeom prst="ellipse">
            <a:avLst/>
          </a:prstGeom>
          <a:solidFill>
            <a:srgbClr val="2D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1234440" y="2057400"/>
            <a:ext cx="3840480" cy="2743200"/>
          </a:xfrm>
          <a:prstGeom prst="line">
            <a:avLst/>
          </a:prstGeom>
          <a:ln w="38100">
            <a:solidFill>
              <a:srgbClr val="E18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943600" y="1417320"/>
            <a:ext cx="53035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1417320"/>
            <a:ext cx="73152" cy="1874519"/>
          </a:xfrm>
          <a:prstGeom prst="rect">
            <a:avLst/>
          </a:prstGeom>
          <a:solidFill>
            <a:srgbClr val="E18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3912" y="1554480"/>
            <a:ext cx="49377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18434"/>
                </a:solidFill>
              </a:defRPr>
            </a:pPr>
            <a:r>
              <a:t>Concept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3912" y="2039112"/>
            <a:ext cx="491947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Learn a relationship such as: Price = m × Area + c.</a:t>
            </a:r>
          </a:p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With multiple features, the model learns a coefficient for each feature.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566160"/>
            <a:ext cx="53035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3566160"/>
            <a:ext cx="73152" cy="1874519"/>
          </a:xfrm>
          <a:prstGeom prst="rect">
            <a:avLst/>
          </a:prstGeom>
          <a:solidFill>
            <a:srgbClr val="2D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53912" y="3703320"/>
            <a:ext cx="49377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8C4"/>
                </a:solidFill>
              </a:defRPr>
            </a:pPr>
            <a:r>
              <a:t>Usage Scenario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3912" y="4187952"/>
            <a:ext cx="491947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Real estate: predict house price from area, age, rooms and other numeric/encoded features.</a:t>
            </a:r>
          </a:p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Useful when you need a transparent baseline and coefficient interpretation.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0" y="655624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40"/>
                </a:solidFill>
              </a:defRPr>
            </a:pPr>
            <a:r>
              <a:t>5. Logistic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6C78"/>
                </a:solidFill>
              </a:defRPr>
            </a:pPr>
            <a:r>
              <a:t>A classification algorithm that estimates class probability.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37360"/>
            <a:ext cx="2057400" cy="777240"/>
          </a:xfrm>
          <a:prstGeom prst="roundRect">
            <a:avLst/>
          </a:prstGeom>
          <a:solidFill>
            <a:srgbClr val="2D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Customer Features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88920" y="1984248"/>
            <a:ext cx="502920" cy="292608"/>
          </a:xfrm>
          <a:prstGeom prst="rightArrow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520440" y="1737360"/>
            <a:ext cx="2057400" cy="777240"/>
          </a:xfrm>
          <a:prstGeom prst="roundRect">
            <a:avLst/>
          </a:prstGeom>
          <a:solidFill>
            <a:srgbClr val="7451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Probability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623560" y="1984248"/>
            <a:ext cx="502920" cy="292608"/>
          </a:xfrm>
          <a:prstGeom prst="rightArrow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737360"/>
            <a:ext cx="2057400" cy="777240"/>
          </a:xfrm>
          <a:prstGeom prst="roundRect">
            <a:avLst/>
          </a:prstGeom>
          <a:solidFill>
            <a:srgbClr val="E18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Threshold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458200" y="1984248"/>
            <a:ext cx="502920" cy="292608"/>
          </a:xfrm>
          <a:prstGeom prst="rightArrow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89720" y="1737360"/>
            <a:ext cx="2057400" cy="777240"/>
          </a:xfrm>
          <a:prstGeom prst="roundRect">
            <a:avLst/>
          </a:prstGeom>
          <a:solidFill>
            <a:srgbClr val="2E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Class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246120"/>
            <a:ext cx="50749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246120"/>
            <a:ext cx="73152" cy="2011680"/>
          </a:xfrm>
          <a:prstGeom prst="rect">
            <a:avLst/>
          </a:prstGeom>
          <a:solidFill>
            <a:srgbClr val="2D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2" y="3383279"/>
            <a:ext cx="47091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8C4"/>
                </a:solidFill>
              </a:defRPr>
            </a:pPr>
            <a:r>
              <a:t>Scenario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3867911"/>
            <a:ext cx="4690872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Bank: estimate probability of loan default.</a:t>
            </a:r>
          </a:p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Example: P(default)=0.78 → threshold rule may classify as high risk.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246120"/>
            <a:ext cx="50749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246120"/>
            <a:ext cx="73152" cy="2011680"/>
          </a:xfrm>
          <a:prstGeom prst="rect">
            <a:avLst/>
          </a:prstGeom>
          <a:solidFill>
            <a:srgbClr val="7451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3383279"/>
            <a:ext cx="47091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7451A9"/>
                </a:solidFill>
              </a:defRPr>
            </a:pPr>
            <a:r>
              <a:t>Use It For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3867911"/>
            <a:ext cx="4690872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Spam, churn, fraud screening and many binary outcomes.</a:t>
            </a:r>
          </a:p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Especially useful when probability and interpretability matter.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0" y="655624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40"/>
                </a:solidFill>
              </a:defRPr>
            </a:pPr>
            <a:r>
              <a:t>6. Decision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6C78"/>
                </a:solidFill>
              </a:defRPr>
            </a:pPr>
            <a:r>
              <a:t>A sequence of feature-based questions leading to a prediction.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280160"/>
            <a:ext cx="2926080" cy="640080"/>
          </a:xfrm>
          <a:prstGeom prst="round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Income &gt; ₹8 lakh?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697480"/>
            <a:ext cx="2560320" cy="640080"/>
          </a:xfrm>
          <a:prstGeom prst="roundRect">
            <a:avLst/>
          </a:prstGeom>
          <a:solidFill>
            <a:srgbClr val="2D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Credit Score &gt; 700?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2697480"/>
            <a:ext cx="2560320" cy="640080"/>
          </a:xfrm>
          <a:prstGeom prst="roundRect">
            <a:avLst/>
          </a:prstGeom>
          <a:solidFill>
            <a:srgbClr val="7451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Existing Debt High?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160520"/>
            <a:ext cx="1920240" cy="640080"/>
          </a:xfrm>
          <a:prstGeom prst="roundRect">
            <a:avLst/>
          </a:prstGeom>
          <a:solidFill>
            <a:srgbClr val="2E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Low Risk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4160520"/>
            <a:ext cx="1920240" cy="640080"/>
          </a:xfrm>
          <a:prstGeom prst="roundRect">
            <a:avLst/>
          </a:prstGeom>
          <a:solidFill>
            <a:srgbClr val="E18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4160520"/>
            <a:ext cx="1920240" cy="640080"/>
          </a:xfrm>
          <a:prstGeom prst="roundRect">
            <a:avLst/>
          </a:prstGeom>
          <a:solidFill>
            <a:srgbClr val="E18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4160520"/>
            <a:ext cx="1920240" cy="640080"/>
          </a:xfrm>
          <a:prstGeom prst="roundRect">
            <a:avLst/>
          </a:prstGeom>
          <a:solidFill>
            <a:srgbClr val="C2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High Risk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3108960" y="1920240"/>
            <a:ext cx="2926080" cy="777240"/>
          </a:xfrm>
          <a:prstGeom prst="line">
            <a:avLst/>
          </a:prstGeom>
          <a:ln w="25400">
            <a:solidFill>
              <a:srgbClr val="64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35040" y="1920240"/>
            <a:ext cx="3017520" cy="777240"/>
          </a:xfrm>
          <a:prstGeom prst="line">
            <a:avLst/>
          </a:prstGeom>
          <a:ln w="25400">
            <a:solidFill>
              <a:srgbClr val="64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783080" y="3337560"/>
            <a:ext cx="1325880" cy="822960"/>
          </a:xfrm>
          <a:prstGeom prst="line">
            <a:avLst/>
          </a:prstGeom>
          <a:ln w="25400">
            <a:solidFill>
              <a:srgbClr val="64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108960" y="3337560"/>
            <a:ext cx="1417320" cy="822960"/>
          </a:xfrm>
          <a:prstGeom prst="line">
            <a:avLst/>
          </a:prstGeom>
          <a:ln w="25400">
            <a:solidFill>
              <a:srgbClr val="64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7909560" y="3337560"/>
            <a:ext cx="1143000" cy="822960"/>
          </a:xfrm>
          <a:prstGeom prst="line">
            <a:avLst/>
          </a:prstGeom>
          <a:ln w="25400">
            <a:solidFill>
              <a:srgbClr val="64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052560" y="3337560"/>
            <a:ext cx="1508760" cy="822960"/>
          </a:xfrm>
          <a:prstGeom prst="line">
            <a:avLst/>
          </a:prstGeom>
          <a:ln w="25400">
            <a:solidFill>
              <a:srgbClr val="64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22960" y="516636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5166360"/>
            <a:ext cx="73152" cy="868680"/>
          </a:xfrm>
          <a:prstGeom prst="rect">
            <a:avLst/>
          </a:prstGeom>
          <a:solidFill>
            <a:srgbClr val="2D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5303520"/>
            <a:ext cx="1033271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8C4"/>
                </a:solidFill>
              </a:defRPr>
            </a:pPr>
            <a:r>
              <a:t>When useful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" y="5788152"/>
            <a:ext cx="10314432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Easy to explain and supports both classification and regression. A very deep single tree can overfit, so depth/pruning matter.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0" y="655624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40"/>
                </a:solidFill>
              </a:defRPr>
            </a:pPr>
            <a:r>
              <a:t>7. Random Forest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6C78"/>
                </a:solidFill>
              </a:defRPr>
            </a:pPr>
            <a:r>
              <a:t>Many diverse decision trees vote or average their predictions.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54480"/>
            <a:ext cx="1417320" cy="685800"/>
          </a:xfrm>
          <a:prstGeom prst="roundRect">
            <a:avLst/>
          </a:prstGeom>
          <a:solidFill>
            <a:srgbClr val="2D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Tree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79" y="1554480"/>
            <a:ext cx="1417320" cy="685800"/>
          </a:xfrm>
          <a:prstGeom prst="roundRect">
            <a:avLst/>
          </a:prstGeom>
          <a:solidFill>
            <a:srgbClr val="7451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Tree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1417320" cy="685800"/>
          </a:xfrm>
          <a:prstGeom prst="roundRect">
            <a:avLst/>
          </a:prstGeom>
          <a:solidFill>
            <a:srgbClr val="2E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Tree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1417320" cy="685800"/>
          </a:xfrm>
          <a:prstGeom prst="roundRect">
            <a:avLst/>
          </a:prstGeom>
          <a:solidFill>
            <a:srgbClr val="E18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Tree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554480"/>
            <a:ext cx="1417320" cy="685800"/>
          </a:xfrm>
          <a:prstGeom prst="roundRect">
            <a:avLst/>
          </a:prstGeom>
          <a:solidFill>
            <a:srgbClr val="2F9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Tree 5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0058400" y="1764792"/>
            <a:ext cx="457200" cy="292608"/>
          </a:xfrm>
          <a:prstGeom prst="rightArrow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607040" y="1554480"/>
            <a:ext cx="960120" cy="685800"/>
          </a:xfrm>
          <a:prstGeom prst="round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Vote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80360"/>
            <a:ext cx="51206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880360"/>
            <a:ext cx="73152" cy="2423160"/>
          </a:xfrm>
          <a:prstGeom prst="rect">
            <a:avLst/>
          </a:prstGeom>
          <a:solidFill>
            <a:srgbClr val="2E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2" y="3017520"/>
            <a:ext cx="47548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E7D60"/>
                </a:solidFill>
              </a:defRPr>
            </a:pPr>
            <a:r>
              <a:t>Why Use It?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3502152"/>
            <a:ext cx="4736592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More stable than relying on one tree.</a:t>
            </a:r>
          </a:p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Captures nonlinear relationships and feature interactions.</a:t>
            </a:r>
          </a:p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Strong general-purpose baseline for tabular datasets.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880360"/>
            <a:ext cx="51206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880360"/>
            <a:ext cx="73152" cy="2423160"/>
          </a:xfrm>
          <a:prstGeom prst="rect">
            <a:avLst/>
          </a:prstGeom>
          <a:solidFill>
            <a:srgbClr val="2D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3017520"/>
            <a:ext cx="47548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8C4"/>
                </a:solidFill>
              </a:defRPr>
            </a:pPr>
            <a:r>
              <a:t>Scenario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3502152"/>
            <a:ext cx="4736592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Insurance: predict claim risk from customer, vehicle and historical claim features.</a:t>
            </a:r>
          </a:p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Also common for churn, fraud, quality and risk models.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0" y="655624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40"/>
                </a:solidFill>
              </a:defRPr>
            </a:pPr>
            <a:r>
              <a:t>8. K-Means Clustering — Unsupervised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6C78"/>
                </a:solidFill>
              </a:defRPr>
            </a:pPr>
            <a:r>
              <a:t>Discover groups of similar observations when labels are not available.</a:t>
            </a:r>
          </a:p>
        </p:txBody>
      </p:sp>
      <p:sp>
        <p:nvSpPr>
          <p:cNvPr id="4" name="Oval 3"/>
          <p:cNvSpPr/>
          <p:nvPr/>
        </p:nvSpPr>
        <p:spPr>
          <a:xfrm>
            <a:off x="1188720" y="1828800"/>
            <a:ext cx="210312" cy="210312"/>
          </a:xfrm>
          <a:prstGeom prst="ellipse">
            <a:avLst/>
          </a:prstGeom>
          <a:solidFill>
            <a:srgbClr val="2D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54480" y="2240280"/>
            <a:ext cx="210312" cy="210312"/>
          </a:xfrm>
          <a:prstGeom prst="ellipse">
            <a:avLst/>
          </a:prstGeom>
          <a:solidFill>
            <a:srgbClr val="2D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65960" y="1737360"/>
            <a:ext cx="210312" cy="210312"/>
          </a:xfrm>
          <a:prstGeom prst="ellipse">
            <a:avLst/>
          </a:prstGeom>
          <a:solidFill>
            <a:srgbClr val="2D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40280" y="2286000"/>
            <a:ext cx="210312" cy="210312"/>
          </a:xfrm>
          <a:prstGeom prst="ellipse">
            <a:avLst/>
          </a:prstGeom>
          <a:solidFill>
            <a:srgbClr val="2D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91840" y="4069080"/>
            <a:ext cx="210312" cy="210312"/>
          </a:xfrm>
          <a:prstGeom prst="ellipse">
            <a:avLst/>
          </a:prstGeom>
          <a:solidFill>
            <a:srgbClr val="2E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49039" y="3657600"/>
            <a:ext cx="210312" cy="210312"/>
          </a:xfrm>
          <a:prstGeom prst="ellipse">
            <a:avLst/>
          </a:prstGeom>
          <a:solidFill>
            <a:srgbClr val="2E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60520" y="4160520"/>
            <a:ext cx="210312" cy="210312"/>
          </a:xfrm>
          <a:prstGeom prst="ellipse">
            <a:avLst/>
          </a:prstGeom>
          <a:solidFill>
            <a:srgbClr val="2E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0" y="3703320"/>
            <a:ext cx="210312" cy="210312"/>
          </a:xfrm>
          <a:prstGeom prst="ellipse">
            <a:avLst/>
          </a:prstGeom>
          <a:solidFill>
            <a:srgbClr val="2E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66160" y="1828800"/>
            <a:ext cx="210312" cy="210312"/>
          </a:xfrm>
          <a:prstGeom prst="ellipse">
            <a:avLst/>
          </a:prstGeom>
          <a:solidFill>
            <a:srgbClr val="7451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023360" y="2148840"/>
            <a:ext cx="210312" cy="210312"/>
          </a:xfrm>
          <a:prstGeom prst="ellipse">
            <a:avLst/>
          </a:prstGeom>
          <a:solidFill>
            <a:srgbClr val="7451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80560" y="1691640"/>
            <a:ext cx="210312" cy="210312"/>
          </a:xfrm>
          <a:prstGeom prst="ellipse">
            <a:avLst/>
          </a:prstGeom>
          <a:solidFill>
            <a:srgbClr val="7451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92040" y="2194560"/>
            <a:ext cx="210312" cy="210312"/>
          </a:xfrm>
          <a:prstGeom prst="ellipse">
            <a:avLst/>
          </a:prstGeom>
          <a:solidFill>
            <a:srgbClr val="7451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852160" y="1371600"/>
            <a:ext cx="5394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52160" y="1371600"/>
            <a:ext cx="73152" cy="1828800"/>
          </a:xfrm>
          <a:prstGeom prst="rect">
            <a:avLst/>
          </a:prstGeom>
          <a:solidFill>
            <a:srgbClr val="7451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62472" y="1508760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7451A9"/>
                </a:solidFill>
              </a:defRPr>
            </a:pPr>
            <a:r>
              <a:t>Concept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62472" y="1993392"/>
            <a:ext cx="501091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Choose K clusters, assign points to the nearest center, update centers and repeat.</a:t>
            </a:r>
          </a:p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The output is a cluster ID—not a predefined business label.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3474720"/>
            <a:ext cx="5394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52160" y="3474720"/>
            <a:ext cx="73152" cy="2011680"/>
          </a:xfrm>
          <a:prstGeom prst="rect">
            <a:avLst/>
          </a:prstGeom>
          <a:solidFill>
            <a:srgbClr val="2D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62472" y="3611879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8C4"/>
                </a:solidFill>
              </a:defRPr>
            </a:pPr>
            <a:r>
              <a:t>Scenario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62472" y="4096511"/>
            <a:ext cx="5010912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Retail: segment customers using spend, visit frequency and product behavior.</a:t>
            </a:r>
          </a:p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Then analysts interpret the groups: e.g., frequent-low-spend vs premium customers.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0" y="655624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40"/>
                </a:solidFill>
              </a:defRPr>
            </a:pPr>
            <a:r>
              <a:t>9. K-Nearest Neighbors (KNN)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6C78"/>
                </a:solidFill>
              </a:defRPr>
            </a:pPr>
            <a:r>
              <a:t>Predict from the most similar nearby training examples.</a:t>
            </a:r>
          </a:p>
        </p:txBody>
      </p:sp>
      <p:sp>
        <p:nvSpPr>
          <p:cNvPr id="4" name="Oval 3"/>
          <p:cNvSpPr/>
          <p:nvPr/>
        </p:nvSpPr>
        <p:spPr>
          <a:xfrm>
            <a:off x="1463040" y="2011680"/>
            <a:ext cx="274320" cy="274320"/>
          </a:xfrm>
          <a:prstGeom prst="ellipse">
            <a:avLst/>
          </a:prstGeom>
          <a:solidFill>
            <a:srgbClr val="2D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20240" y="2514600"/>
            <a:ext cx="274320" cy="274320"/>
          </a:xfrm>
          <a:prstGeom prst="ellipse">
            <a:avLst/>
          </a:prstGeom>
          <a:solidFill>
            <a:srgbClr val="2D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" y="2880360"/>
            <a:ext cx="274320" cy="274320"/>
          </a:xfrm>
          <a:prstGeom prst="ellipse">
            <a:avLst/>
          </a:prstGeom>
          <a:solidFill>
            <a:srgbClr val="2D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749039" y="4023360"/>
            <a:ext cx="274320" cy="274320"/>
          </a:xfrm>
          <a:prstGeom prst="ellipse">
            <a:avLst/>
          </a:prstGeom>
          <a:solidFill>
            <a:srgbClr val="2E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297680" y="3657600"/>
            <a:ext cx="274320" cy="274320"/>
          </a:xfrm>
          <a:prstGeom prst="ellipse">
            <a:avLst/>
          </a:prstGeom>
          <a:solidFill>
            <a:srgbClr val="2E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09160" y="4206240"/>
            <a:ext cx="274320" cy="274320"/>
          </a:xfrm>
          <a:prstGeom prst="ellipse">
            <a:avLst/>
          </a:prstGeom>
          <a:solidFill>
            <a:srgbClr val="2E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5-Point Star 9"/>
          <p:cNvSpPr/>
          <p:nvPr/>
        </p:nvSpPr>
        <p:spPr>
          <a:xfrm>
            <a:off x="2880360" y="2788920"/>
            <a:ext cx="502920" cy="502920"/>
          </a:xfrm>
          <a:prstGeom prst="star5">
            <a:avLst/>
          </a:prstGeom>
          <a:solidFill>
            <a:srgbClr val="E18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852160" y="1417320"/>
            <a:ext cx="5394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52160" y="1417320"/>
            <a:ext cx="73152" cy="1828800"/>
          </a:xfrm>
          <a:prstGeom prst="rect">
            <a:avLst/>
          </a:prstGeom>
          <a:solidFill>
            <a:srgbClr val="2D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62472" y="1554480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8C4"/>
                </a:solidFill>
              </a:defRPr>
            </a:pPr>
            <a:r>
              <a:t>How It 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62472" y="2039112"/>
            <a:ext cx="501091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Find the K nearest examples using a distance measure.</a:t>
            </a:r>
          </a:p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Classification → majority vote. Regression → average/weighted average.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3520440"/>
            <a:ext cx="53949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52160" y="3520440"/>
            <a:ext cx="73152" cy="1920240"/>
          </a:xfrm>
          <a:prstGeom prst="rect">
            <a:avLst/>
          </a:prstGeom>
          <a:solidFill>
            <a:srgbClr val="2E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62472" y="3657600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E7D60"/>
                </a:solidFill>
              </a:defRPr>
            </a:pPr>
            <a:r>
              <a:t>Scenario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2472" y="4142232"/>
            <a:ext cx="501091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Classify a new customer based on similar existing customers.</a:t>
            </a:r>
          </a:p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Simple and intuitive, but scaling features and choosing K are important.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0" y="655624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40"/>
                </a:solidFill>
              </a:defRPr>
            </a:pPr>
            <a:r>
              <a:t>10. Reinforcement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6C78"/>
                </a:solidFill>
              </a:defRPr>
            </a:pPr>
            <a:r>
              <a:t>Learning sequential decisions through interaction and reward.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37360"/>
            <a:ext cx="2057400" cy="777240"/>
          </a:xfrm>
          <a:prstGeom prst="roundRect">
            <a:avLst/>
          </a:prstGeom>
          <a:solidFill>
            <a:srgbClr val="2D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Agent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88920" y="1984248"/>
            <a:ext cx="502920" cy="292608"/>
          </a:xfrm>
          <a:prstGeom prst="rightArrow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520440" y="1737360"/>
            <a:ext cx="2057400" cy="777240"/>
          </a:xfrm>
          <a:prstGeom prst="roundRect">
            <a:avLst/>
          </a:prstGeom>
          <a:solidFill>
            <a:srgbClr val="7451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Environment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623560" y="1984248"/>
            <a:ext cx="502920" cy="292608"/>
          </a:xfrm>
          <a:prstGeom prst="rightArrow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737360"/>
            <a:ext cx="2057400" cy="777240"/>
          </a:xfrm>
          <a:prstGeom prst="roundRect">
            <a:avLst/>
          </a:prstGeom>
          <a:solidFill>
            <a:srgbClr val="E18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Reward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458200" y="1984248"/>
            <a:ext cx="502920" cy="292608"/>
          </a:xfrm>
          <a:prstGeom prst="rightArrow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89720" y="1737360"/>
            <a:ext cx="2057400" cy="777240"/>
          </a:xfrm>
          <a:prstGeom prst="roundRect">
            <a:avLst/>
          </a:prstGeom>
          <a:solidFill>
            <a:srgbClr val="2E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Policy Learns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246120"/>
            <a:ext cx="50749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246120"/>
            <a:ext cx="73152" cy="2057400"/>
          </a:xfrm>
          <a:prstGeom prst="rect">
            <a:avLst/>
          </a:prstGeom>
          <a:solidFill>
            <a:srgbClr val="2D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2" y="3383279"/>
            <a:ext cx="47091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8C4"/>
                </a:solidFill>
              </a:defRPr>
            </a:pPr>
            <a:r>
              <a:t>Scenario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3867911"/>
            <a:ext cx="4690872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Warehouse robot chooses movements.</a:t>
            </a:r>
          </a:p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Efficient safe movement → positive reward.</a:t>
            </a:r>
          </a:p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Collision/delay → penalty.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246120"/>
            <a:ext cx="50749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246120"/>
            <a:ext cx="73152" cy="2057400"/>
          </a:xfrm>
          <a:prstGeom prst="rect">
            <a:avLst/>
          </a:prstGeom>
          <a:solidFill>
            <a:srgbClr val="7451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3383279"/>
            <a:ext cx="47091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7451A9"/>
                </a:solidFill>
              </a:defRPr>
            </a:pPr>
            <a:r>
              <a:t>Where It Fits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3867911"/>
            <a:ext cx="4690872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Robotics, games, scheduling and sequential control.</a:t>
            </a:r>
          </a:p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Different from supervised learning because the agent generates experience by acting.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0" y="655624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40"/>
                </a:solidFill>
              </a:defRPr>
            </a:pPr>
            <a:r>
              <a:t>11. Which Algorithm Should I Start With?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73152" cy="1325880"/>
          </a:xfrm>
          <a:prstGeom prst="rect">
            <a:avLst/>
          </a:prstGeom>
          <a:solidFill>
            <a:srgbClr val="E18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417319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18434"/>
                </a:solidFill>
              </a:defRPr>
            </a:pPr>
            <a:r>
              <a:t>Predict a Number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901952"/>
            <a:ext cx="309067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Linear Regression → simple baseline</a:t>
            </a:r>
          </a:p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Random Forest → nonlinear tabular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28016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280160"/>
            <a:ext cx="73152" cy="1325880"/>
          </a:xfrm>
          <a:prstGeom prst="rect">
            <a:avLst/>
          </a:prstGeom>
          <a:solidFill>
            <a:srgbClr val="2D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417319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8C4"/>
                </a:solidFill>
              </a:defRPr>
            </a:pPr>
            <a:r>
              <a:t>Predict a Category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901952"/>
            <a:ext cx="309067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Logistic Regression → interpretable baseline</a:t>
            </a:r>
          </a:p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Tree / Random Forest / KNN → alternatives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280160"/>
            <a:ext cx="73152" cy="1325880"/>
          </a:xfrm>
          <a:prstGeom prst="rect">
            <a:avLst/>
          </a:prstGeom>
          <a:solidFill>
            <a:srgbClr val="7451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2" y="1417319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7451A9"/>
                </a:solidFill>
              </a:defRPr>
            </a:pPr>
            <a:r>
              <a:t>Discover Groups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2" y="1901952"/>
            <a:ext cx="309067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K-Means clustering</a:t>
            </a:r>
          </a:p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No target labels required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92608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926080"/>
            <a:ext cx="73152" cy="1325880"/>
          </a:xfrm>
          <a:prstGeom prst="rect">
            <a:avLst/>
          </a:prstGeom>
          <a:solidFill>
            <a:srgbClr val="2E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3063240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E7D60"/>
                </a:solidFill>
              </a:defRPr>
            </a:pPr>
            <a:r>
              <a:t>Sequential Decisions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3547872"/>
            <a:ext cx="309067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Reinforcement Learning</a:t>
            </a:r>
          </a:p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Optimize long-term reward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292608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3400" y="2926080"/>
            <a:ext cx="73152" cy="1325880"/>
          </a:xfrm>
          <a:prstGeom prst="rect">
            <a:avLst/>
          </a:prstGeom>
          <a:solidFill>
            <a:srgbClr val="2F9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3063240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F9EC1"/>
                </a:solidFill>
              </a:defRPr>
            </a:pPr>
            <a:r>
              <a:t>Need Explainability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3547872"/>
            <a:ext cx="309067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Linear / Logistic Regression</a:t>
            </a:r>
          </a:p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Shallow Decision Tree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292608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2926080"/>
            <a:ext cx="73152" cy="1325880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57032" y="3063240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</a:defRPr>
            </a:pPr>
            <a:r>
              <a:t>Tabular Baseline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7032" y="3547872"/>
            <a:ext cx="309067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Random Forest</a:t>
            </a:r>
          </a:p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Robust with limited preprocessing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617720"/>
            <a:ext cx="10881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4617720"/>
            <a:ext cx="73152" cy="960120"/>
          </a:xfrm>
          <a:prstGeom prst="rect">
            <a:avLst/>
          </a:prstGeom>
          <a:solidFill>
            <a:srgbClr val="2D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754880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8C4"/>
                </a:solidFill>
              </a:defRPr>
            </a:pPr>
            <a:r>
              <a:t>Key point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" y="5239512"/>
            <a:ext cx="1049731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Choose based on the target, availability of labels, dataset shape/size, evaluation metric, interpretability and operational constraints.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89920" y="655624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40"/>
                </a:solidFill>
              </a:defRPr>
            </a:pPr>
            <a:r>
              <a:t>12. End-to-End ML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737360"/>
            <a:ext cx="1600200" cy="914400"/>
          </a:xfrm>
          <a:prstGeom prst="round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 Define</a:t>
            </a:r>
            <a:br/>
            <a:r>
              <a:t>Problem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139696" y="2039112"/>
            <a:ext cx="246888" cy="292608"/>
          </a:xfrm>
          <a:prstGeom prst="rightArrow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23160" y="1737360"/>
            <a:ext cx="1600200" cy="914400"/>
          </a:xfrm>
          <a:prstGeom prst="roundRect">
            <a:avLst/>
          </a:prstGeom>
          <a:solidFill>
            <a:srgbClr val="2D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2. Collect</a:t>
            </a:r>
            <a:br/>
            <a:r>
              <a:t>Data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059935" y="2039112"/>
            <a:ext cx="246888" cy="292608"/>
          </a:xfrm>
          <a:prstGeom prst="rightArrow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3400" y="1737360"/>
            <a:ext cx="1600200" cy="914400"/>
          </a:xfrm>
          <a:prstGeom prst="roundRect">
            <a:avLst/>
          </a:prstGeom>
          <a:solidFill>
            <a:srgbClr val="2F9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3. Prepare</a:t>
            </a:r>
            <a:br/>
            <a:r>
              <a:t>Features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80176" y="2039112"/>
            <a:ext cx="246888" cy="292608"/>
          </a:xfrm>
          <a:prstGeom prst="rightArrow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737360"/>
            <a:ext cx="1600200" cy="914400"/>
          </a:xfrm>
          <a:prstGeom prst="roundRect">
            <a:avLst/>
          </a:prstGeom>
          <a:solidFill>
            <a:srgbClr val="7451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4. Train</a:t>
            </a:r>
            <a:br/>
            <a:r>
              <a:t>Model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900416" y="2039112"/>
            <a:ext cx="246888" cy="292608"/>
          </a:xfrm>
          <a:prstGeom prst="rightArrow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83880" y="1737360"/>
            <a:ext cx="1600200" cy="914400"/>
          </a:xfrm>
          <a:prstGeom prst="roundRect">
            <a:avLst/>
          </a:prstGeom>
          <a:solidFill>
            <a:srgbClr val="E18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5. Evaluate</a:t>
            </a:r>
            <a:br/>
            <a:r>
              <a:t>Model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820656" y="2039112"/>
            <a:ext cx="246888" cy="292608"/>
          </a:xfrm>
          <a:prstGeom prst="rightArrow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104120" y="1737360"/>
            <a:ext cx="1600200" cy="914400"/>
          </a:xfrm>
          <a:prstGeom prst="roundRect">
            <a:avLst/>
          </a:prstGeom>
          <a:solidFill>
            <a:srgbClr val="2E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6. Deploy &amp;</a:t>
            </a:r>
            <a:br/>
            <a:r>
              <a:t>Monitor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429000"/>
            <a:ext cx="106984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429000"/>
            <a:ext cx="73152" cy="1874519"/>
          </a:xfrm>
          <a:prstGeom prst="rect">
            <a:avLst/>
          </a:prstGeom>
          <a:solidFill>
            <a:srgbClr val="2D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566160"/>
            <a:ext cx="1033271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8C4"/>
                </a:solidFill>
              </a:defRPr>
            </a:pPr>
            <a:r>
              <a:t>Example: Customer Churn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050791"/>
            <a:ext cx="1031443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Problem: predict who may leave → Data: usage, support, billing → Train classifier → Evaluate precision/recall → Deploy churn score → Monitor drift and retrain.</a:t>
            </a:r>
          </a:p>
          <a:p>
            <a:pPr>
              <a:spcAft>
                <a:spcPts val="600"/>
              </a:spcAft>
              <a:defRPr sz="1250">
                <a:solidFill>
                  <a:srgbClr val="262D38"/>
                </a:solidFill>
              </a:defRPr>
            </a:pPr>
            <a:r>
              <a:t>ML is not only model training; data quality, evaluation and monitoring are equally important.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0" y="655624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8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