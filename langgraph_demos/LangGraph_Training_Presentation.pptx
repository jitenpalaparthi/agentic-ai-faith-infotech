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38912"/>
            <a:ext cx="11356848" cy="0"/>
          </a:xfrm>
          <a:prstGeom prst="line">
            <a:avLst/>
          </a:prstGeom>
          <a:noFill/>
          <a:ln w="8890">
            <a:solidFill>
              <a:srgbClr val="4A4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70" kern="0" dirty="0">
                <a:solidFill>
                  <a:srgbClr val="A0A0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875520" y="109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707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AI TRAINING</a:t>
            </a:r>
            <a:endParaRPr lang="en-US" sz="650" dirty="0"/>
          </a:p>
        </p:txBody>
      </p:sp>
      <p:sp>
        <p:nvSpPr>
          <p:cNvPr id="5" name="Shape 3"/>
          <p:cNvSpPr/>
          <p:nvPr/>
        </p:nvSpPr>
        <p:spPr>
          <a:xfrm>
            <a:off x="411480" y="6519672"/>
            <a:ext cx="11356848" cy="0"/>
          </a:xfrm>
          <a:prstGeom prst="line">
            <a:avLst/>
          </a:prstGeom>
          <a:noFill/>
          <a:ln w="6350">
            <a:solidFill>
              <a:srgbClr val="3A3A3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A7A7"/>
                </a:solidFill>
              </a:rPr>
              <a:t>LANGGRAPH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Graphs to</a:t>
            </a:r>
            <a:endParaRPr lang="en-US" sz="3500" dirty="0"/>
          </a:p>
          <a:p>
            <a:pPr indent="0" marL="0">
              <a:buNone/>
            </a:pPr>
            <a:r>
              <a:rPr lang="en-US" sz="3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Agents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40080" y="29718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A7A7"/>
                </a:solidFill>
              </a:rPr>
              <a:t>State • Nodes • Edges • Tools • Agent loops • SQL • MCP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0" y="1234440"/>
            <a:ext cx="146304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5AB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28432" y="1271016"/>
            <a:ext cx="13167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921240" y="2514600"/>
            <a:ext cx="146304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94392" y="2551176"/>
            <a:ext cx="13167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818120" y="3840480"/>
            <a:ext cx="160020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91272" y="3877056"/>
            <a:ext cx="145389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921240" y="4800600"/>
            <a:ext cx="146304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FFB8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4392" y="4837176"/>
            <a:ext cx="13167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372600" y="1536192"/>
            <a:ext cx="685800" cy="960120"/>
          </a:xfrm>
          <a:prstGeom prst="line">
            <a:avLst/>
          </a:prstGeom>
          <a:noFill/>
          <a:ln w="17780">
            <a:solidFill>
              <a:srgbClr val="5AB2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515600" y="3108960"/>
            <a:ext cx="-1874520" cy="713232"/>
          </a:xfrm>
          <a:prstGeom prst="line">
            <a:avLst/>
          </a:prstGeom>
          <a:noFill/>
          <a:ln w="1778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00032" y="4133088"/>
            <a:ext cx="566928" cy="667512"/>
          </a:xfrm>
          <a:prstGeom prst="line">
            <a:avLst/>
          </a:prstGeom>
          <a:noFill/>
          <a:ln w="17780">
            <a:solidFill>
              <a:srgbClr val="61D09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058400" y="2514600"/>
            <a:ext cx="-777240" cy="-850392"/>
          </a:xfrm>
          <a:prstGeom prst="line">
            <a:avLst/>
          </a:prstGeom>
          <a:noFill/>
          <a:ln w="11430">
            <a:solidFill>
              <a:srgbClr val="5E5E5E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640080" y="5897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</a:rPr>
              <a:t>Trainer-ready conceptual + code walkthrough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you should understand by the 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16152" y="17830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LangGraph exists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16152" y="27889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State, nodes and edges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794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6152" y="3794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routing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4800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16152" y="4800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 and agent loops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7830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793992" y="17830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agent with PostgreSQL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788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93992" y="27889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+ LangGraph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63640" y="37947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93992" y="37947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and persistence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48006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93992" y="4800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design patterns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LangGraph?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118872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graph-based runtime for long-running, stateful LLM workflows and agents.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151515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6052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151515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1737360"/>
            <a:ext cx="3246120" cy="3246120"/>
          </a:xfrm>
          <a:prstGeom prst="roundRect">
            <a:avLst>
              <a:gd name="adj" fmla="val 1408"/>
            </a:avLst>
          </a:prstGeom>
          <a:solidFill>
            <a:srgbClr val="151515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control flow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Nodes perform work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Edges define movement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Conditions choose paths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3484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43484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travels through the graph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3484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Messages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3484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Intermediate results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Application context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01000" y="1965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01000" y="242316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can decide the next action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0100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Call a tool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0100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Retry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001000" y="41605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Finish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6692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= orchestration. The LLM may reason; the graph controls execution.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MENTAL MODEL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graph is just nodes + edges + state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77240" y="2743200"/>
            <a:ext cx="123444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A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779776"/>
            <a:ext cx="1088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80360" y="1828800"/>
            <a:ext cx="141732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5AB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53512" y="1865376"/>
            <a:ext cx="12710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3657600"/>
            <a:ext cx="141732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53512" y="3694176"/>
            <a:ext cx="12710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23560" y="2743200"/>
            <a:ext cx="141732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96712" y="2779776"/>
            <a:ext cx="127101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0" y="2743200"/>
            <a:ext cx="123444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FFB8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2779776"/>
            <a:ext cx="1088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3035808"/>
            <a:ext cx="868680" cy="-91440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011680" y="3035808"/>
            <a:ext cx="868680" cy="91440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2121408"/>
            <a:ext cx="1325880" cy="914400"/>
          </a:xfrm>
          <a:prstGeom prst="line">
            <a:avLst/>
          </a:prstGeom>
          <a:noFill/>
          <a:ln w="17780">
            <a:solidFill>
              <a:srgbClr val="5AB2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97680" y="3950208"/>
            <a:ext cx="1325880" cy="-914400"/>
          </a:xfrm>
          <a:prstGeom prst="line">
            <a:avLst/>
          </a:prstGeom>
          <a:noFill/>
          <a:ln w="17780">
            <a:solidFill>
              <a:srgbClr val="61D09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040880" y="3035808"/>
            <a:ext cx="1463040" cy="0"/>
          </a:xfrm>
          <a:prstGeom prst="line">
            <a:avLst/>
          </a:prstGeom>
          <a:noFill/>
          <a:ln w="1778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921240" y="1600200"/>
            <a:ext cx="1600200" cy="3200400"/>
          </a:xfrm>
          <a:prstGeom prst="roundRect">
            <a:avLst>
              <a:gd name="adj" fmla="val 2857"/>
            </a:avLst>
          </a:prstGeom>
          <a:solidFill>
            <a:srgbClr val="121212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24128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49840" y="2514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messages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149840" y="2971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user_id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149840" y="3429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0" y="38862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retry_count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" y="525780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node receives the current state and returns an update.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is the shared data structure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4663440" cy="1143000"/>
          </a:xfrm>
          <a:prstGeom prst="roundRect">
            <a:avLst/>
          </a:prstGeom>
          <a:solidFill>
            <a:srgbClr val="101317"/>
          </a:solidFill>
          <a:ln w="10160">
            <a:solidFill>
              <a:srgbClr val="28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755648"/>
            <a:ext cx="4370832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State(TypedDict):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messages: Annotated[list, add_messages]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806440" y="1645920"/>
            <a:ext cx="5120640" cy="3383280"/>
          </a:xfrm>
          <a:prstGeom prst="roundRect">
            <a:avLst>
              <a:gd name="adj" fmla="val 1351"/>
            </a:avLst>
          </a:prstGeom>
          <a:solidFill>
            <a:srgbClr val="151515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typical message state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2487168"/>
            <a:ext cx="123444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5AB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49631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HumanMessage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543800" y="245059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has the highest salary?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3090672"/>
            <a:ext cx="123444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09981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AIMessage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543800" y="305409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tool_call: execute_sql(...)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3694176"/>
            <a:ext cx="123444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61D09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70332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ToolMessage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543800" y="365760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Kiran | 120000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4297680"/>
            <a:ext cx="123444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430682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AIMessage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7543800" y="426110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Kiran has the highest salary.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246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3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TypedDict is common, but not mandatory.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794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3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State can hold messages, counters, IDs, documents or structured data.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3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Reducers such as add_messages define how updates merge.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node is simply a function that does work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937760" cy="1828800"/>
          </a:xfrm>
          <a:prstGeom prst="roundRect">
            <a:avLst/>
          </a:prstGeom>
          <a:solidFill>
            <a:srgbClr val="101317"/>
          </a:solidFill>
          <a:ln w="10160">
            <a:solidFill>
              <a:srgbClr val="28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09928"/>
            <a:ext cx="4645152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agent_node(state: State):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llm.invoke(state["messages"])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{"messages": [response]}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1645920"/>
            <a:ext cx="128016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73952" y="1682496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IN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0" y="1645920"/>
            <a:ext cx="128016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5AB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02752" y="1682496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0" y="1645920"/>
            <a:ext cx="155448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31552" y="1682496"/>
            <a:ext cx="14081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UPDATE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1929384"/>
            <a:ext cx="54864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509760" y="1929384"/>
            <a:ext cx="54864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35508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node types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474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node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092440" y="347472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a model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3913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node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92440" y="39136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a tool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435254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92440" y="435254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context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47914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92440" y="479145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an output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52303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92440" y="52303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for approval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Edges decide where execution goes next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23444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A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505456"/>
            <a:ext cx="10881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926080" y="2468880"/>
            <a:ext cx="132588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5AB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9232" y="2505456"/>
            <a:ext cx="1179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132588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33872" y="1636776"/>
            <a:ext cx="1179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686800" y="3337560"/>
            <a:ext cx="1325880" cy="59436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FFB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59952" y="3374136"/>
            <a:ext cx="117957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57400" y="2761488"/>
            <a:ext cx="86868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51960" y="2697480"/>
            <a:ext cx="1508760" cy="-804672"/>
          </a:xfrm>
          <a:prstGeom prst="line">
            <a:avLst/>
          </a:prstGeom>
          <a:noFill/>
          <a:ln w="17780">
            <a:solidFill>
              <a:srgbClr val="5AB2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19088" y="2194560"/>
            <a:ext cx="-2487168" cy="274320"/>
          </a:xfrm>
          <a:prstGeom prst="line">
            <a:avLst/>
          </a:prstGeom>
          <a:noFill/>
          <a:ln w="1778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51960" y="2880360"/>
            <a:ext cx="4434840" cy="749808"/>
          </a:xfrm>
          <a:prstGeom prst="line">
            <a:avLst/>
          </a:prstGeom>
          <a:noFill/>
          <a:ln w="17780">
            <a:solidFill>
              <a:srgbClr val="FFB86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1755648"/>
            <a:ext cx="100584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76479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tool call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080760" y="3273552"/>
            <a:ext cx="132588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28269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no tool call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822960" y="4434840"/>
            <a:ext cx="4754880" cy="1325880"/>
          </a:xfrm>
          <a:prstGeom prst="roundRect">
            <a:avLst/>
          </a:prstGeom>
          <a:solidFill>
            <a:srgbClr val="101317"/>
          </a:solidFill>
          <a:ln w="10160">
            <a:solidFill>
              <a:srgbClr val="2831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544568"/>
            <a:ext cx="4462272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builder.add_conditional_edges(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"agent",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should_continue,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{"tools": "tools", "end": END}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5040" y="4572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router usually does not choose the tool. It routes based on what the LLM already requested.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CALLING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actually decides which tool to call?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417320" cy="68580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5AB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2139696"/>
            <a:ext cx="12710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03320" y="2103120"/>
            <a:ext cx="1600200" cy="68580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76472" y="2139696"/>
            <a:ext cx="145389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0" y="2103120"/>
            <a:ext cx="1417320" cy="68580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2139696"/>
            <a:ext cx="12710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55480" y="2103120"/>
            <a:ext cx="1783080" cy="68580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FFB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28632" y="2139696"/>
            <a:ext cx="163677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48840" y="2441448"/>
            <a:ext cx="155448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2441448"/>
            <a:ext cx="155448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75320" y="2441448"/>
            <a:ext cx="128016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450592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59552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458200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77240" y="3794760"/>
            <a:ext cx="10515600" cy="1371600"/>
          </a:xfrm>
          <a:prstGeom prst="roundRect">
            <a:avLst>
              <a:gd name="adj" fmla="val 3333"/>
            </a:avLst>
          </a:prstGeom>
          <a:solidFill>
            <a:srgbClr val="111111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069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distinction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3913632"/>
            <a:ext cx="8092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description + schema are shown to the model. The model emits a structured tool call. LangGraph executes the control flow around that call.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LOOP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ReAct-style loop in LangGraph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2743200"/>
            <a:ext cx="109728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A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2779776"/>
            <a:ext cx="9509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2743200"/>
            <a:ext cx="164592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5AB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6352" y="2779776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/ LLM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760720" y="1600200"/>
            <a:ext cx="132588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33872" y="1636776"/>
            <a:ext cx="11795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595360" y="2743200"/>
            <a:ext cx="192024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FFB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68512" y="2779776"/>
            <a:ext cx="17739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ANSWER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3026664"/>
            <a:ext cx="105156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2788920"/>
            <a:ext cx="1371600" cy="-905256"/>
          </a:xfrm>
          <a:prstGeom prst="line">
            <a:avLst/>
          </a:prstGeom>
          <a:noFill/>
          <a:ln w="17780">
            <a:solidFill>
              <a:srgbClr val="5AB2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400800" y="2167128"/>
            <a:ext cx="-2560320" cy="576072"/>
          </a:xfrm>
          <a:prstGeom prst="line">
            <a:avLst/>
          </a:prstGeom>
          <a:noFill/>
          <a:ln w="1778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89120" y="3026664"/>
            <a:ext cx="4206240" cy="0"/>
          </a:xfrm>
          <a:prstGeom prst="line">
            <a:avLst/>
          </a:prstGeom>
          <a:noFill/>
          <a:ln w="17780">
            <a:solidFill>
              <a:srgbClr val="FFB86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1828800"/>
            <a:ext cx="132588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837944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needs data/action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989320" y="2907792"/>
            <a:ext cx="68580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916936"/>
            <a:ext cx="594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done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834640" y="4160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may cycle multiple times before END.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514600" y="4800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agent → search → agent → calculator → agent → final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Minimal explicit LangGraph agent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486400" cy="4434840"/>
          </a:xfrm>
          <a:prstGeom prst="roundRect">
            <a:avLst/>
          </a:prstGeom>
          <a:solidFill>
            <a:srgbClr val="101317"/>
          </a:solidFill>
          <a:ln w="10160">
            <a:solidFill>
              <a:srgbClr val="28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618488"/>
            <a:ext cx="5193792" cy="4215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= StateGraph(State)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builder.add_node("agent", agent_node)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builder.add_node("tools", tool_node)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builder.add_edge(START, "agent")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builder.add_conditional_edges(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"agent", should_continue,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{"tools": "tools", "end": END}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builder.add_edge("tools", "agent")</a:t>
            </a:r>
            <a:endParaRPr lang="en-US" sz="1170" dirty="0"/>
          </a:p>
          <a:p>
            <a:pPr indent="0" marL="0">
              <a:buNone/>
            </a:pP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= builder.compile()</a:t>
            </a:r>
            <a:endParaRPr lang="en-US" sz="1170" dirty="0"/>
          </a:p>
        </p:txBody>
      </p:sp>
      <p:sp>
        <p:nvSpPr>
          <p:cNvPr id="6" name="Shape 4"/>
          <p:cNvSpPr/>
          <p:nvPr/>
        </p:nvSpPr>
        <p:spPr>
          <a:xfrm>
            <a:off x="6583680" y="1508760"/>
            <a:ext cx="4754880" cy="4434840"/>
          </a:xfrm>
          <a:prstGeom prst="roundRect">
            <a:avLst>
              <a:gd name="adj" fmla="val 1031"/>
            </a:avLst>
          </a:prstGeom>
          <a:solidFill>
            <a:srgbClr val="151515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0372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it as a runtime contract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949440" y="24688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52360" y="24505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at agent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949440" y="3063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52360" y="30449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may request a tool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949440" y="36576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52360" y="36393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 sends execution to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42519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52360" y="423367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result returns to agent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0" y="48463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52360" y="4828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tool call → END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AGENT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Example: LangGraph SQL agent with PostgreSQL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05156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A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2779776"/>
            <a:ext cx="9052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2743200"/>
            <a:ext cx="123444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5AB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2779776"/>
            <a:ext cx="1088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2743200"/>
            <a:ext cx="150876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2779776"/>
            <a:ext cx="13624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ToolNode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52360" y="2743200"/>
            <a:ext cx="164592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25512" y="2779776"/>
            <a:ext cx="14996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0" y="2743200"/>
            <a:ext cx="128016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FFB8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31552" y="2779776"/>
            <a:ext cx="1133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554480" y="3026664"/>
            <a:ext cx="73152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520440" y="3026664"/>
            <a:ext cx="118872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17920" y="3026664"/>
            <a:ext cx="123444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98280" y="3026664"/>
            <a:ext cx="96012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11480" y="160020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"Who has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salary?"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65960" y="141732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name, salary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BY salary DESC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6916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execute_sql(...)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6092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Kiran | 120000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921240" y="15087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"Kiran has 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salary."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251960"/>
            <a:ext cx="4297680" cy="1143000"/>
          </a:xfrm>
          <a:prstGeom prst="roundRect">
            <a:avLst/>
          </a:prstGeom>
          <a:solidFill>
            <a:srgbClr val="101317"/>
          </a:solidFill>
          <a:ln w="10160">
            <a:solidFill>
              <a:srgbClr val="2831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4361688"/>
            <a:ext cx="4005072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execute_sql(query: str) -&gt; str: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"""Execute a read-only SELECT query."""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40680" y="42976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writes the SQL. The tool executes it. PostgreSQL is the source of truth.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TRACE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actually happens in the message state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664208"/>
            <a:ext cx="146304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5AB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67335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HumanMessage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3154680" y="1600200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111111"/>
          </a:solidFill>
          <a:ln w="10160">
            <a:solidFill>
              <a:srgbClr val="5AB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6733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has the highest salary?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148840"/>
            <a:ext cx="0" cy="429768"/>
          </a:xfrm>
          <a:prstGeom prst="line">
            <a:avLst/>
          </a:prstGeom>
          <a:noFill/>
          <a:ln w="8890">
            <a:solidFill>
              <a:srgbClr val="5E5E5E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71600" y="2670048"/>
            <a:ext cx="146304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67919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AIMessage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54680" y="2606040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111111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26791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tool_call: execute_sql(SELECT ...)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154680"/>
            <a:ext cx="0" cy="429768"/>
          </a:xfrm>
          <a:prstGeom prst="line">
            <a:avLst/>
          </a:prstGeom>
          <a:noFill/>
          <a:ln w="8890">
            <a:solidFill>
              <a:srgbClr val="5E5E5E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7315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71600" y="3675888"/>
            <a:ext cx="146304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61D09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368503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ToolMessage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54680" y="3611880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111111"/>
          </a:solidFill>
          <a:ln w="10160">
            <a:solidFill>
              <a:srgbClr val="61D09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36850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Columns: name, salary | Kiran, 120000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" y="4160520"/>
            <a:ext cx="0" cy="429768"/>
          </a:xfrm>
          <a:prstGeom prst="line">
            <a:avLst/>
          </a:prstGeom>
          <a:noFill/>
          <a:ln w="8890">
            <a:solidFill>
              <a:srgbClr val="5E5E5E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7315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71600" y="4681728"/>
            <a:ext cx="146304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4690872"/>
            <a:ext cx="1371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AIMessage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54680" y="4617720"/>
            <a:ext cx="7772400" cy="576072"/>
          </a:xfrm>
          <a:prstGeom prst="roundRect">
            <a:avLst>
              <a:gd name="adj" fmla="val 7937"/>
            </a:avLst>
          </a:prstGeom>
          <a:solidFill>
            <a:srgbClr val="111111"/>
          </a:solidFill>
          <a:ln w="10160">
            <a:solidFill>
              <a:srgbClr val="FFB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46908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Kiran has the highest salary at 120,000.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94560" y="5806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trace is one of the best ways to teach “agent” behavior.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LangGraph + MCP: separate orchestration from capabilities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1234440" cy="64008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5AB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2505456"/>
            <a:ext cx="1088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2468880"/>
            <a:ext cx="1554480" cy="64008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6352" y="250545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49240" y="2468880"/>
            <a:ext cx="1554480" cy="64008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2392" y="2505456"/>
            <a:ext cx="14081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CLIENT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09560" y="2468880"/>
            <a:ext cx="1600200" cy="64008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FFB8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2712" y="2505456"/>
            <a:ext cx="1453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195560" y="2468880"/>
            <a:ext cx="1188720" cy="64008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FF7B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68712" y="2505456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74520" y="2788920"/>
            <a:ext cx="86868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297680" y="2788920"/>
            <a:ext cx="105156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2788920"/>
            <a:ext cx="100584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09760" y="2788920"/>
            <a:ext cx="68580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78308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chooses action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3434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949440" y="2057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464040" y="2057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14400" y="4069080"/>
            <a:ext cx="10149840" cy="1188720"/>
          </a:xfrm>
          <a:prstGeom prst="roundRect">
            <a:avLst>
              <a:gd name="adj" fmla="val 3846"/>
            </a:avLst>
          </a:prstGeom>
          <a:solidFill>
            <a:srgbClr val="111111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3708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is not the agent.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0" y="43159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standardized client/server boundary for discovering and invoking capabilities.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FLOW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Dynamic tool discovery with MCP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303520" cy="3154680"/>
          </a:xfrm>
          <a:prstGeom prst="roundRect">
            <a:avLst/>
          </a:prstGeom>
          <a:solidFill>
            <a:srgbClr val="101317"/>
          </a:solidFill>
          <a:ln w="10160">
            <a:solidFill>
              <a:srgbClr val="28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618488"/>
            <a:ext cx="5010912" cy="2935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listed = await mcp_client.list_tools()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 = [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mcp_tool_to_langchain(client, tool)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tool in listed.tools</a:t>
            </a: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30" dirty="0"/>
          </a:p>
          <a:p>
            <a:pPr indent="0" marL="0">
              <a:buNone/>
            </a:pPr>
            <a:endParaRPr lang="en-US" sz="1230" dirty="0"/>
          </a:p>
          <a:p>
            <a:pPr indent="0" marL="0">
              <a:buNone/>
            </a:pPr>
            <a:r>
              <a:rPr lang="en-US" sz="1230" dirty="0">
                <a:solidFill>
                  <a:srgbClr val="DCE7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llm_with_tools = llm.bind_tools(tools)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6400800" y="1508760"/>
            <a:ext cx="4754880" cy="3154680"/>
          </a:xfrm>
          <a:prstGeom prst="roundRect">
            <a:avLst>
              <a:gd name="adj" fmla="val 1449"/>
            </a:avLst>
          </a:prstGeom>
          <a:solidFill>
            <a:srgbClr val="151515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2084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720840" y="2423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agent does not hard-code every remote tool.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720840" y="2971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MCP returns names, descriptions and schemas.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3520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Those tool definitions are bound to the LLM.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20840" y="4069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Execution still happens on the MCP server.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53492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lets the capability provider evolve independently of the agent.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VS AGENT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workflow vs agentic workflow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5029200" cy="4389120"/>
          </a:xfrm>
          <a:prstGeom prst="roundRect">
            <a:avLst>
              <a:gd name="adj" fmla="val 1042"/>
            </a:avLst>
          </a:prstGeom>
          <a:solidFill>
            <a:srgbClr val="151515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63640" y="1554480"/>
            <a:ext cx="5029200" cy="4389120"/>
          </a:xfrm>
          <a:prstGeom prst="roundRect">
            <a:avLst>
              <a:gd name="adj" fmla="val 1042"/>
            </a:avLst>
          </a:prstGeom>
          <a:solidFill>
            <a:srgbClr val="151515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decide the path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097280" y="3246120"/>
            <a:ext cx="822960" cy="50292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3282696"/>
            <a:ext cx="676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3246120"/>
            <a:ext cx="822960" cy="50292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3282696"/>
            <a:ext cx="676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3246120"/>
            <a:ext cx="822960" cy="50292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5072" y="3282696"/>
            <a:ext cx="676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3493008"/>
            <a:ext cx="594360" cy="0"/>
          </a:xfrm>
          <a:prstGeom prst="line">
            <a:avLst/>
          </a:prstGeom>
          <a:noFill/>
          <a:ln w="17780">
            <a:solidFill>
              <a:srgbClr val="61D095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37560" y="3493008"/>
            <a:ext cx="594360" cy="0"/>
          </a:xfrm>
          <a:prstGeom prst="line">
            <a:avLst/>
          </a:prstGeom>
          <a:noFill/>
          <a:ln w="17780">
            <a:solidFill>
              <a:srgbClr val="61D095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00584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Predictable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846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Easy to 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5303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Best for known processes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0" y="1828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23317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can choose the path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6766560" y="3200400"/>
            <a:ext cx="1005840" cy="50292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5AB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39712" y="3236976"/>
            <a:ext cx="8595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49640" y="2743200"/>
            <a:ext cx="822960" cy="50292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22792" y="2779776"/>
            <a:ext cx="676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549640" y="3749040"/>
            <a:ext cx="822960" cy="50292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FFB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22792" y="3785616"/>
            <a:ext cx="67665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195560" y="3246120"/>
            <a:ext cx="914400" cy="502920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68712" y="3282696"/>
            <a:ext cx="7680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772400" y="3401568"/>
            <a:ext cx="777240" cy="-402336"/>
          </a:xfrm>
          <a:prstGeom prst="line">
            <a:avLst/>
          </a:prstGeom>
          <a:noFill/>
          <a:ln w="17780">
            <a:solidFill>
              <a:srgbClr val="5AB2FF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772400" y="3401568"/>
            <a:ext cx="777240" cy="603504"/>
          </a:xfrm>
          <a:prstGeom prst="line">
            <a:avLst/>
          </a:prstGeom>
          <a:noFill/>
          <a:ln w="17780">
            <a:solidFill>
              <a:srgbClr val="5AB2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372600" y="2999232"/>
            <a:ext cx="822960" cy="402336"/>
          </a:xfrm>
          <a:prstGeom prst="line">
            <a:avLst/>
          </a:prstGeom>
          <a:noFill/>
          <a:ln w="1778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372600" y="4005072"/>
            <a:ext cx="822960" cy="-603504"/>
          </a:xfrm>
          <a:prstGeom prst="line">
            <a:avLst/>
          </a:prstGeom>
          <a:noFill/>
          <a:ln w="17780">
            <a:solidFill>
              <a:srgbClr val="FFB86B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583680" y="4617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Flexible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5074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Needs guardrails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5532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pPr indent="0" marL="0">
              <a:buNone/>
            </a:pPr>
            <a:r>
              <a:rPr lang="en-US" sz="11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Best when choices are dynamic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PATTERNS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LangGraph patterns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3337560" cy="1508760"/>
          </a:xfrm>
          <a:prstGeom prst="roundRect">
            <a:avLst>
              <a:gd name="adj" fmla="val 3030"/>
            </a:avLst>
          </a:prstGeom>
          <a:solidFill>
            <a:srgbClr val="111111"/>
          </a:solidFill>
          <a:ln w="10160">
            <a:solidFill>
              <a:srgbClr val="5AB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01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585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→ route to specialist nodes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600200"/>
            <a:ext cx="3337560" cy="1508760"/>
          </a:xfrm>
          <a:prstGeom prst="roundRect">
            <a:avLst>
              <a:gd name="adj" fmla="val 3030"/>
            </a:avLst>
          </a:prstGeom>
          <a:solidFill>
            <a:srgbClr val="111111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801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09160" y="22585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↔ tools until done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1600200"/>
            <a:ext cx="3337560" cy="1508760"/>
          </a:xfrm>
          <a:prstGeom prst="roundRect">
            <a:avLst>
              <a:gd name="adj" fmla="val 3030"/>
            </a:avLst>
          </a:prstGeom>
          <a:solidFill>
            <a:srgbClr val="111111"/>
          </a:solidFill>
          <a:ln w="10160">
            <a:solidFill>
              <a:srgbClr val="61D09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1801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 agent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0" y="225856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→ reason → retrieve again if needed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611880"/>
            <a:ext cx="3337560" cy="1508760"/>
          </a:xfrm>
          <a:prstGeom prst="roundRect">
            <a:avLst>
              <a:gd name="adj" fmla="val 3030"/>
            </a:avLst>
          </a:prstGeom>
          <a:solidFill>
            <a:srgbClr val="111111"/>
          </a:solidFill>
          <a:ln w="1016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813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/ executor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2702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tasks → execute → verify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3611880"/>
            <a:ext cx="3337560" cy="1508760"/>
          </a:xfrm>
          <a:prstGeom prst="roundRect">
            <a:avLst>
              <a:gd name="adj" fmla="val 3030"/>
            </a:avLst>
          </a:prstGeom>
          <a:solidFill>
            <a:srgbClr val="111111"/>
          </a:solidFill>
          <a:ln w="10160">
            <a:solidFill>
              <a:srgbClr val="FF7B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813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42702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→ review → resume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75320" y="3611880"/>
            <a:ext cx="3337560" cy="1508760"/>
          </a:xfrm>
          <a:prstGeom prst="roundRect">
            <a:avLst>
              <a:gd name="adj" fmla="val 3030"/>
            </a:avLst>
          </a:prstGeom>
          <a:solidFill>
            <a:srgbClr val="111111"/>
          </a:solidFill>
          <a:ln w="10160">
            <a:solidFill>
              <a:srgbClr val="5AB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38130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03920" y="427024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Supervisor delegates to specialist agents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State is per run; persistence makes it durable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18872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5AB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956816"/>
            <a:ext cx="1042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794760" y="1920240"/>
            <a:ext cx="182880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61D09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67912" y="1956816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43800" y="1920240"/>
            <a:ext cx="1188720" cy="566928"/>
          </a:xfrm>
          <a:prstGeom prst="roundRect">
            <a:avLst/>
          </a:prstGeom>
          <a:solidFill>
            <a:srgbClr val="111111"/>
          </a:solidFill>
          <a:ln w="17780">
            <a:solidFill>
              <a:srgbClr val="A78B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6952" y="1956816"/>
            <a:ext cx="1042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0" y="2203704"/>
            <a:ext cx="178308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23560" y="2203704"/>
            <a:ext cx="1920240" cy="0"/>
          </a:xfrm>
          <a:prstGeom prst="line">
            <a:avLst/>
          </a:prstGeom>
          <a:noFill/>
          <a:ln w="17780">
            <a:solidFill>
              <a:srgbClr val="A7A7A7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3337560"/>
            <a:ext cx="9921240" cy="1737360"/>
          </a:xfrm>
          <a:prstGeom prst="roundRect">
            <a:avLst>
              <a:gd name="adj" fmla="val 2632"/>
            </a:avLst>
          </a:prstGeom>
          <a:solidFill>
            <a:srgbClr val="151515"/>
          </a:solidFill>
          <a:ln w="10160">
            <a:solidFill>
              <a:srgbClr val="3434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persist?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Resume after interruption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Long-running agents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Human approval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01000" y="4160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Pause and continue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80160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Conversation threads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thread-specific state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0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Fault tolerance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01000" y="4709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 from failures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5532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 is not the same thing as “the model remembers everything.”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guardrails for agents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permissions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14600" y="15087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least privilege; separate read/write tools.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2221992"/>
            <a:ext cx="5074920" cy="0"/>
          </a:xfrm>
          <a:prstGeom prst="line">
            <a:avLst/>
          </a:prstGeom>
          <a:noFill/>
          <a:ln w="7620">
            <a:solidFill>
              <a:srgbClr val="2727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0" y="15087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15087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tool args and model outputs.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2221992"/>
            <a:ext cx="5074920" cy="0"/>
          </a:xfrm>
          <a:prstGeom prst="line">
            <a:avLst/>
          </a:prstGeom>
          <a:noFill/>
          <a:ln w="7620">
            <a:solidFill>
              <a:srgbClr val="2727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77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5877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iteration, timeout and token limits.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300984"/>
            <a:ext cx="5074920" cy="0"/>
          </a:xfrm>
          <a:prstGeom prst="line">
            <a:avLst/>
          </a:prstGeom>
          <a:noFill/>
          <a:ln w="7620">
            <a:solidFill>
              <a:srgbClr val="2727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5877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58775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nodes, tool calls, errors and latency.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300984"/>
            <a:ext cx="5074920" cy="0"/>
          </a:xfrm>
          <a:prstGeom prst="line">
            <a:avLst/>
          </a:prstGeom>
          <a:noFill/>
          <a:ln w="7620">
            <a:solidFill>
              <a:srgbClr val="2727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667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Idempotency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14600" y="366674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retries for side-effecting operations.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" y="4379976"/>
            <a:ext cx="5074920" cy="0"/>
          </a:xfrm>
          <a:prstGeom prst="line">
            <a:avLst/>
          </a:prstGeom>
          <a:noFill/>
          <a:ln w="7620">
            <a:solidFill>
              <a:srgbClr val="2727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36667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approval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0" y="366674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approval for high-impact actions.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379976"/>
            <a:ext cx="5074920" cy="0"/>
          </a:xfrm>
          <a:prstGeom prst="line">
            <a:avLst/>
          </a:prstGeom>
          <a:noFill/>
          <a:ln w="7620">
            <a:solidFill>
              <a:srgbClr val="2727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457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safety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474573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SELECT-only users, allowlists and row limits.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47457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0" y="474573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model/tool/service failure explicitly.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DEBUGGING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When an agent fails, inspect the layer that owns the failure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17320" y="1536192"/>
            <a:ext cx="114300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5AB2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54533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MODEL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880360" y="150876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unavailable / weak tool calling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3774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417320" y="2404872"/>
            <a:ext cx="114300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241401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BINDING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880360" y="237744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Wrong tool schema or description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417320" y="3273552"/>
            <a:ext cx="114300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61D0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328269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ROUTING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880360" y="3246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Conditional edge sends wrong path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1148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417320" y="4142232"/>
            <a:ext cx="114300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FFB8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415137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TOOL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80360" y="41148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throws or returns poor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7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1417320" y="5010912"/>
            <a:ext cx="1143000" cy="256032"/>
          </a:xfrm>
          <a:prstGeom prst="roundRect">
            <a:avLst/>
          </a:prstGeom>
          <a:solidFill>
            <a:srgbClr val="151515"/>
          </a:solidFill>
          <a:ln w="8890">
            <a:solidFill>
              <a:srgbClr val="FF7B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63040" y="5020056"/>
            <a:ext cx="1051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4F4"/>
                </a:solidFill>
              </a:rPr>
              <a:t>EXTERNAL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880360" y="49834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Database/API/MCP server fails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715000"/>
            <a:ext cx="10058400" cy="640080"/>
          </a:xfrm>
          <a:prstGeom prst="roundRect">
            <a:avLst>
              <a:gd name="adj" fmla="val 7143"/>
            </a:avLst>
          </a:prstGeom>
          <a:solidFill>
            <a:srgbClr val="111111"/>
          </a:solidFill>
          <a:ln w="10160">
            <a:solidFill>
              <a:srgbClr val="5AB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5852160"/>
            <a:ext cx="9326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debugging artifact: print or inspect the ordered message / state transitions.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50" kern="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4F4F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mental model to remember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111111"/>
          </a:solidFill>
          <a:ln w="10160">
            <a:solidFill>
              <a:srgbClr val="61D0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1D0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graph knows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52928" y="17830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111111"/>
          </a:solidFill>
          <a:ln w="10160">
            <a:solidFill>
              <a:srgbClr val="5AB2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B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54096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work happens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38928" y="17830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111111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0096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execution goes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24928" y="17830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111111"/>
          </a:solidFill>
          <a:ln w="10160">
            <a:solidFill>
              <a:srgbClr val="FFB8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8952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26096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decide the next action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10928" y="1783080"/>
            <a:ext cx="1965960" cy="1965960"/>
          </a:xfrm>
          <a:prstGeom prst="roundRect">
            <a:avLst>
              <a:gd name="adj" fmla="val 2326"/>
            </a:avLst>
          </a:prstGeom>
          <a:solidFill>
            <a:srgbClr val="111111"/>
          </a:solidFill>
          <a:ln w="10160">
            <a:solidFill>
              <a:srgbClr val="FF7B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20574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7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12096" y="27432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Performs an external capability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4617720"/>
            <a:ext cx="9921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4F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LangGraph makes agent execution explicit, inspectable and controllable.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188720" y="54406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A7A7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deterministic graph. Add agentic decisions only where they create real value.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47104"/>
            <a:ext cx="22860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777777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— From Graphs to Production Agents</dc:title>
  <dc:subject>LangGraph training presentation</dc:subject>
  <dc:creator>OpenAI</dc:creator>
  <cp:lastModifiedBy>OpenAI</cp:lastModifiedBy>
  <cp:revision>1</cp:revision>
  <dcterms:created xsi:type="dcterms:W3CDTF">2026-10-03T18:47:54Z</dcterms:created>
  <dcterms:modified xsi:type="dcterms:W3CDTF">2026-10-03T18:47:54Z</dcterms:modified>
</cp:coreProperties>
</file>